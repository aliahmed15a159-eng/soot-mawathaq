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rtl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oot-mawathaq.vercel.app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oot-mawathaq.vercel.app/register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oot-mawathaq.vercel.app/" TargetMode="External"/><Relationship Id="rId4" Type="http://schemas.openxmlformats.org/officeDocument/2006/relationships/hyperlink" Target="https://soot-mawathaq.vercel.app/register" TargetMode="External"/><Relationship Id="rId5" Type="http://schemas.openxmlformats.org/officeDocument/2006/relationships/hyperlink" Target="https://soot-mawathaq.vercel.app/results" TargetMode="External"/><Relationship Id="rId6" Type="http://schemas.openxmlformats.org/officeDocument/2006/relationships/hyperlink" Target="https://soot-mawathaq.vercel.app/verify-receipt" TargetMode="External"/><Relationship Id="rId7" Type="http://schemas.openxmlformats.org/officeDocument/2006/relationships/hyperlink" Target="https://soot-mawathaq.vercel.app/admin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7784" y="484632"/>
            <a:ext cx="11430000" cy="6217920"/>
          </a:xfrm>
          <a:prstGeom prst="rect">
            <a:avLst/>
          </a:prstGeom>
          <a:solidFill>
            <a:srgbClr val="58D5CC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9204" y="425196"/>
            <a:ext cx="11430000" cy="62179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310896"/>
            <a:ext cx="11430000" cy="6217920"/>
          </a:xfrm>
          <a:prstGeom prst="rect">
            <a:avLst/>
          </a:prstGeom>
          <a:solidFill>
            <a:srgbClr val="FBF9F1"/>
          </a:solidFill>
          <a:ln w="38100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438912"/>
            <a:ext cx="11173968" cy="5961888"/>
          </a:xfrm>
          <a:prstGeom prst="rect">
            <a:avLst/>
          </a:prstGeom>
          <a:noFill/>
          <a:ln w="12700">
            <a:solidFill>
              <a:srgbClr val="C3C7CA"/>
            </a:solidFill>
            <a:prstDash val="dash"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10312"/>
            <a:ext cx="1930146" cy="2743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173736"/>
            <a:ext cx="1930146" cy="274320"/>
          </a:xfrm>
          <a:prstGeom prst="rect">
            <a:avLst/>
          </a:prstGeom>
          <a:solidFill>
            <a:srgbClr val="FF4453"/>
          </a:solidFill>
          <a:ln w="19050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50" b="1" i="0" lang="en-US">
                <a:solidFill>
                  <a:srgbClr val="FFFFFF"/>
                </a:solidFill>
                <a:latin typeface="Courier New"/>
                <a:cs typeface="Courier New"/>
              </a:rPr>
              <a:t>SLIDE 01 // OVERVIEW &amp; QR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566928"/>
            <a:ext cx="3139440" cy="256032"/>
          </a:xfrm>
          <a:prstGeom prst="rect">
            <a:avLst/>
          </a:prstGeom>
          <a:solidFill>
            <a:srgbClr val="ECEEEF"/>
          </a:solidFill>
          <a:ln w="9525">
            <a:solidFill>
              <a:srgbClr val="B8C0C6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00" b="1" i="0" lang="en-US">
                <a:solidFill>
                  <a:srgbClr val="10283F"/>
                </a:solidFill>
                <a:latin typeface="Courier New"/>
                <a:cs typeface="Courier New"/>
              </a:rPr>
              <a:t>PROTOTYPE // CIVICTECH &amp; CRYPTOGRAPHY 2026/2027</a:t>
            </a:r>
          </a:p>
        </p:txBody>
      </p:sp>
      <p:sp>
        <p:nvSpPr>
          <p:cNvPr id="9" name="Oval 8"/>
          <p:cNvSpPr/>
          <p:nvPr/>
        </p:nvSpPr>
        <p:spPr>
          <a:xfrm>
            <a:off x="11219688" y="640080"/>
            <a:ext cx="118872" cy="118872"/>
          </a:xfrm>
          <a:prstGeom prst="ellipse">
            <a:avLst/>
          </a:prstGeom>
          <a:solidFill>
            <a:srgbClr val="43BF86"/>
          </a:solidFill>
          <a:ln w="15240">
            <a:solidFill>
              <a:srgbClr val="10283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90999" y="530352"/>
            <a:ext cx="6909816" cy="32918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1050" b="1" i="0" lang="ar-EG">
                <a:solidFill>
                  <a:srgbClr val="10283F"/>
                </a:solidFill>
                <a:latin typeface="Cairo"/>
                <a:cs typeface="Cairo"/>
              </a:rPr>
              <a:t>المسابقة الوطنية للمبتكرين والطلاب في التكنولوجيا والذكاء الاصطناعي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950976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12" name="Rectangle 11"/>
          <p:cNvSpPr/>
          <p:nvPr/>
        </p:nvSpPr>
        <p:spPr>
          <a:xfrm>
            <a:off x="10206990" y="1042415"/>
            <a:ext cx="1131570" cy="256032"/>
          </a:xfrm>
          <a:prstGeom prst="rect">
            <a:avLst/>
          </a:prstGeom>
          <a:solidFill>
            <a:srgbClr val="0C2237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PROJECT DOSSIER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32569" y="1042415"/>
            <a:ext cx="1074420" cy="256032"/>
          </a:xfrm>
          <a:prstGeom prst="rect">
            <a:avLst/>
          </a:prstGeom>
          <a:solidFill>
            <a:srgbClr val="E6BD5D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0C2237"/>
                </a:solidFill>
                <a:latin typeface="Courier New"/>
                <a:cs typeface="Courier New"/>
              </a:rPr>
              <a:t>#SOOT-MAWATHAQ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86699" y="1042415"/>
            <a:ext cx="1245870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4453"/>
                </a:solidFill>
                <a:latin typeface="Courier New"/>
                <a:cs typeface="Courier New"/>
              </a:rPr>
              <a:t>STUDENT UNION LAB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1481328"/>
            <a:ext cx="10469880" cy="114300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2000"/>
              </a:lnSpc>
            </a:pPr>
            <a:r>
              <a:rPr sz="3600" b="1" i="0" lang="ar-EG">
                <a:solidFill>
                  <a:srgbClr val="10283F"/>
                </a:solidFill>
                <a:latin typeface="Cairo"/>
                <a:cs typeface="Cairo"/>
              </a:rPr>
              <a:t>صوت موثّق</a:t>
            </a:r>
          </a:p>
          <a:p>
            <a:pPr algn="r" rtl="1">
              <a:lnSpc>
                <a:spcPct val="112000"/>
              </a:lnSpc>
            </a:pPr>
            <a:r>
              <a:rPr sz="3600" b="1" i="0" lang="ar-EG">
                <a:solidFill>
                  <a:srgbClr val="FF4453"/>
                </a:solidFill>
                <a:latin typeface="Cairo"/>
                <a:cs typeface="Cairo"/>
              </a:rPr>
              <a:t>من هويتك .. إلى صوتك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2651760"/>
            <a:ext cx="10469880" cy="27432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25000"/>
              </a:lnSpc>
            </a:pPr>
            <a:r>
              <a:rPr sz="1150" b="1" i="0" lang="ar-EG">
                <a:solidFill>
                  <a:srgbClr val="2B3E50"/>
                </a:solidFill>
                <a:latin typeface="Cairo"/>
                <a:cs typeface="Cairo"/>
              </a:rPr>
              <a:t>مختبر ونموذج محاكاة تجريبي متقدم للاقتراع البيومتري السري (⁦Proof of Concept⁩)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2898648"/>
            <a:ext cx="10469880" cy="603504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25000"/>
              </a:lnSpc>
            </a:pPr>
            <a:r>
              <a:rPr sz="1150" b="0" i="0" lang="ar-EG">
                <a:solidFill>
                  <a:srgbClr val="2B3E50"/>
                </a:solidFill>
                <a:latin typeface="Cairo"/>
                <a:cs typeface="Cairo"/>
              </a:rPr>
              <a:t>تم تصميمه لانتخابات </a:t>
            </a:r>
            <a:r>
              <a:rPr sz="1150" b="1" i="0" lang="ar-EG">
                <a:solidFill>
                  <a:srgbClr val="2B3E50"/>
                </a:solidFill>
                <a:latin typeface="Cairo"/>
                <a:cs typeface="Cairo"/>
              </a:rPr>
              <a:t>المكتب التنفيذي لاتحاد طلاب مدارس الجمهورية (دورة ⁦2026/2027⁩)</a:t>
            </a:r>
            <a:r>
              <a:rPr sz="1150" b="0" i="0" lang="ar-EG">
                <a:solidFill>
                  <a:srgbClr val="2B3E50"/>
                </a:solidFill>
                <a:latin typeface="Cairo"/>
                <a:cs typeface="Cairo"/>
              </a:rPr>
              <a:t>. يحل المنظومة معادلة التحقق الرقمي عبر الجمع بين </a:t>
            </a:r>
            <a:r>
              <a:rPr sz="1150" b="1" i="0" lang="ar-EG">
                <a:solidFill>
                  <a:srgbClr val="2B3E50"/>
                </a:solidFill>
                <a:latin typeface="Cairo"/>
                <a:cs typeface="Cairo"/>
              </a:rPr>
              <a:t>التحقق العصبي الحي من الوجه (⁦128-D + Liveness⁩)</a:t>
            </a:r>
            <a:r>
              <a:rPr sz="1150" b="0" i="0" lang="ar-EG">
                <a:solidFill>
                  <a:srgbClr val="2B3E50"/>
                </a:solidFill>
                <a:latin typeface="Cairo"/>
                <a:cs typeface="Cairo"/>
              </a:rPr>
              <a:t> و</a:t>
            </a:r>
            <a:r>
              <a:rPr sz="1150" b="1" i="0" lang="ar-EG">
                <a:solidFill>
                  <a:srgbClr val="2B3E50"/>
                </a:solidFill>
                <a:latin typeface="Cairo"/>
                <a:cs typeface="Cairo"/>
              </a:rPr>
              <a:t>معمارية عزل الهوية الصارمة (⁦Zero-Link Architecture⁩)</a:t>
            </a:r>
            <a:r>
              <a:rPr sz="1150" b="0" i="0" lang="ar-EG">
                <a:solidFill>
                  <a:srgbClr val="2B3E50"/>
                </a:solidFill>
                <a:latin typeface="Cairo"/>
                <a:cs typeface="Cairo"/>
              </a:rPr>
              <a:t> التي تمنع رياضيًا وتقنيًا ربط صوت الناخب بهويته.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469880" cy="100584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3584448"/>
            <a:ext cx="10469880" cy="1005840"/>
          </a:xfrm>
          <a:prstGeom prst="rect">
            <a:avLst/>
          </a:prstGeom>
          <a:solidFill>
            <a:srgbClr val="FFFFFF"/>
          </a:solidFill>
          <a:ln w="28575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pic>
        <p:nvPicPr>
          <p:cNvPr id="20" name="Picture 19" descr="qr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3648456"/>
            <a:ext cx="896112" cy="89611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0314432" y="3630168"/>
            <a:ext cx="932688" cy="932688"/>
          </a:xfrm>
          <a:prstGeom prst="rect">
            <a:avLst/>
          </a:prstGeom>
          <a:noFill/>
          <a:ln w="15875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51560" y="3657600"/>
            <a:ext cx="9006840" cy="292608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1250" b="1" i="0" lang="ar-EG">
                <a:solidFill>
                  <a:srgbClr val="10283F"/>
                </a:solidFill>
                <a:latin typeface="Cairo"/>
                <a:cs typeface="Cairo"/>
              </a:rPr>
              <a:t>📱 مسح الـ ⁦QR Code⁩ لتجربة المنظومة فوراً مع التحكيم: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51560" y="3950208"/>
            <a:ext cx="9006840" cy="310896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5000"/>
              </a:lnSpc>
            </a:pPr>
            <a:r>
              <a:rPr sz="950" b="0" i="0" lang="ar-EG">
                <a:solidFill>
                  <a:srgbClr val="68727B"/>
                </a:solidFill>
                <a:latin typeface="Cairo"/>
                <a:cs typeface="Cairo"/>
              </a:rPr>
              <a:t>امسح الكود بكاميرا هاتفك لفتح المنظومة الحية وتجربة مسار التحقق البيومتري والتصويت السري لحظياً أثناء العرض.</a:t>
            </a:r>
          </a:p>
        </p:txBody>
      </p:sp>
      <p:sp>
        <p:nvSpPr>
          <p:cNvPr id="24" name="Rectangle 23">
            <a:hlinkClick r:id="rId3"/>
          </p:cNvPr>
          <p:cNvSpPr/>
          <p:nvPr/>
        </p:nvSpPr>
        <p:spPr>
          <a:xfrm>
            <a:off x="7910322" y="4297680"/>
            <a:ext cx="2084070" cy="237744"/>
          </a:xfrm>
          <a:prstGeom prst="rect">
            <a:avLst/>
          </a:prstGeom>
          <a:solidFill>
            <a:srgbClr val="F7F4EA"/>
          </a:solidFill>
          <a:ln w="15875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950" b="1" i="0" lang="en-US">
                <a:solidFill>
                  <a:srgbClr val="0C2237"/>
                </a:solidFill>
                <a:latin typeface="Courier New"/>
                <a:cs typeface="Courier New"/>
              </a:rPr>
              <a:t>soot-mawathaq.vercel.app/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91834" y="4297680"/>
            <a:ext cx="1508760" cy="237744"/>
          </a:xfrm>
          <a:prstGeom prst="rect">
            <a:avLst/>
          </a:prstGeom>
          <a:solidFill>
            <a:srgbClr val="43BF86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850" b="1" i="0" lang="ar-EG">
                <a:solidFill>
                  <a:srgbClr val="FFFFFF"/>
                </a:solidFill>
                <a:latin typeface="Cairo"/>
                <a:cs typeface="Cairo"/>
              </a:rPr>
              <a:t>جاهز للتجربة الحية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34528" y="4782312"/>
            <a:ext cx="3368040" cy="1188720"/>
          </a:xfrm>
          <a:prstGeom prst="rect">
            <a:avLst/>
          </a:prstGeom>
          <a:solidFill>
            <a:srgbClr val="58D5CC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70520" y="4718304"/>
            <a:ext cx="3368040" cy="1188720"/>
          </a:xfrm>
          <a:prstGeom prst="rect">
            <a:avLst/>
          </a:prstGeom>
          <a:solidFill>
            <a:srgbClr val="F0FDFC"/>
          </a:solidFill>
          <a:ln w="22225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250424" y="4855464"/>
            <a:ext cx="941831" cy="22860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BIOMETRIC AI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16824" y="5138928"/>
            <a:ext cx="3075432" cy="680313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</a:pPr>
            <a:r>
              <a:rPr sz="1200" b="1" i="0" lang="ar-EG">
                <a:solidFill>
                  <a:srgbClr val="10283F"/>
                </a:solidFill>
                <a:latin typeface="Cairo"/>
                <a:cs typeface="Cairo"/>
              </a:rPr>
              <a:t>بصمة عصبية ⁦128-D⁩</a:t>
            </a:r>
          </a:p>
          <a:p>
            <a:pPr algn="r" rtl="1">
              <a:lnSpc>
                <a:spcPct val="122000"/>
              </a:lnSpc>
            </a:pPr>
            <a:r>
              <a:rPr sz="950" b="0" i="0" lang="ar-EG">
                <a:solidFill>
                  <a:srgbClr val="10283F"/>
                </a:solidFill>
                <a:latin typeface="Cairo"/>
                <a:cs typeface="Cairo"/>
              </a:rPr>
              <a:t>مطابقة لحظية عبر المتصفح بين صورة الكاميرا وبيانات البطاقة القومية مع كشف الحيوية ومقاومة التزييف.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3607" y="4782312"/>
            <a:ext cx="3368040" cy="1188720"/>
          </a:xfrm>
          <a:prstGeom prst="rect">
            <a:avLst/>
          </a:prstGeom>
          <a:solidFill>
            <a:srgbClr val="E6BD5D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19599" y="4718304"/>
            <a:ext cx="3368040" cy="1188720"/>
          </a:xfrm>
          <a:prstGeom prst="rect">
            <a:avLst/>
          </a:prstGeom>
          <a:solidFill>
            <a:srgbClr val="FFFDF2"/>
          </a:solidFill>
          <a:ln w="22225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13753" y="4855464"/>
            <a:ext cx="1227582" cy="22860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ZERO-LINK PRIVACY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65903" y="5138928"/>
            <a:ext cx="3075432" cy="680313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</a:pPr>
            <a:r>
              <a:rPr sz="1200" b="1" i="0" lang="ar-EG">
                <a:solidFill>
                  <a:srgbClr val="10283F"/>
                </a:solidFill>
                <a:latin typeface="Cairo"/>
                <a:cs typeface="Cairo"/>
              </a:rPr>
              <a:t>سرية تشفيرية مطلقة</a:t>
            </a:r>
          </a:p>
          <a:p>
            <a:pPr algn="r" rtl="1">
              <a:lnSpc>
                <a:spcPct val="122000"/>
              </a:lnSpc>
            </a:pPr>
            <a:r>
              <a:rPr sz="950" b="0" i="0" lang="ar-EG">
                <a:solidFill>
                  <a:srgbClr val="10283F"/>
                </a:solidFill>
                <a:latin typeface="Cairo"/>
                <a:cs typeface="Cairo"/>
              </a:rPr>
              <a:t>عزل هيكلي كامل بين سجل الناخبين وصندوق الاقتراع المجهول عبر توقيعات ⁦HMAC-SHA256⁩ العمياء.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2687" y="4782312"/>
            <a:ext cx="3368040" cy="1188720"/>
          </a:xfrm>
          <a:prstGeom prst="rect">
            <a:avLst/>
          </a:prstGeom>
          <a:solidFill>
            <a:srgbClr val="43BF86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8679" y="4718304"/>
            <a:ext cx="3368040" cy="1188720"/>
          </a:xfrm>
          <a:prstGeom prst="rect">
            <a:avLst/>
          </a:prstGeom>
          <a:solidFill>
            <a:srgbClr val="F0FBF5"/>
          </a:solidFill>
          <a:ln w="22225">
            <a:solidFill>
              <a:srgbClr val="43BF86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805683" y="4855464"/>
            <a:ext cx="1284731" cy="22860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VERIFIABLE RECEIPT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4983" y="5138928"/>
            <a:ext cx="3075432" cy="680313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</a:pPr>
            <a:r>
              <a:rPr sz="1200" b="1" i="0" lang="ar-EG">
                <a:solidFill>
                  <a:srgbClr val="10283F"/>
                </a:solidFill>
                <a:latin typeface="Cairo"/>
                <a:cs typeface="Cairo"/>
              </a:rPr>
              <a:t>إيصال تحقق مشفر</a:t>
            </a:r>
          </a:p>
          <a:p>
            <a:pPr algn="r" rtl="1">
              <a:lnSpc>
                <a:spcPct val="122000"/>
              </a:lnSpc>
            </a:pPr>
            <a:r>
              <a:rPr sz="950" b="0" i="0" lang="ar-EG">
                <a:solidFill>
                  <a:srgbClr val="10283F"/>
                </a:solidFill>
                <a:latin typeface="Cairo"/>
                <a:cs typeface="Cairo"/>
              </a:rPr>
              <a:t>إصدار كود إثبات مشفر للناخب للتحقق من احتساب صوته في الصندوق دون كشف اسم مرشحه لأي طرف.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68680" y="5961888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39" name="Rectangle 38"/>
          <p:cNvSpPr/>
          <p:nvPr/>
        </p:nvSpPr>
        <p:spPr>
          <a:xfrm>
            <a:off x="7498079" y="603504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المشروع: </a:t>
            </a:r>
            <a:r>
              <a:rPr sz="850" b="1" i="0" lang="ar-EG">
                <a:solidFill>
                  <a:srgbClr val="0C2237"/>
                </a:solidFill>
                <a:latin typeface="Cairo"/>
                <a:cs typeface="Cairo"/>
              </a:rPr>
              <a:t>صوت موثّق — مختبر الاقتراع السري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26080" y="60350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المسار: </a:t>
            </a:r>
            <a:r>
              <a:rPr sz="850" b="1" i="0" lang="en-US">
                <a:solidFill>
                  <a:srgbClr val="0C2237"/>
                </a:solidFill>
                <a:latin typeface="Courier New"/>
                <a:cs typeface="Courier New"/>
              </a:rPr>
              <a:t>/⁦presentation⁩</a:t>
            </a: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 · الرابط المباشر: </a:t>
            </a:r>
            <a:r>
              <a:rPr sz="850" b="1" i="0" lang="en-US">
                <a:solidFill>
                  <a:srgbClr val="0C2237"/>
                </a:solidFill>
                <a:latin typeface="Courier New"/>
                <a:cs typeface="Courier New"/>
              </a:rPr>
              <a:t>⁦soot-mawathaq.vercel.app⁩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8680" y="6035040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l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الشريحة </a:t>
            </a:r>
            <a:r>
              <a:rPr sz="850" b="1" i="0" lang="ar-EG">
                <a:solidFill>
                  <a:srgbClr val="0C2237"/>
                </a:solidFill>
                <a:latin typeface="Cairo"/>
                <a:cs typeface="Cairo"/>
              </a:rPr>
              <a:t>⁦01⁩ من ⁦12⁩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7784" y="484632"/>
            <a:ext cx="11430000" cy="6217920"/>
          </a:xfrm>
          <a:prstGeom prst="rect">
            <a:avLst/>
          </a:prstGeom>
          <a:solidFill>
            <a:srgbClr val="58D5CC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9204" y="425196"/>
            <a:ext cx="11430000" cy="62179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310896"/>
            <a:ext cx="11430000" cy="6217920"/>
          </a:xfrm>
          <a:prstGeom prst="rect">
            <a:avLst/>
          </a:prstGeom>
          <a:solidFill>
            <a:srgbClr val="FBF9F1"/>
          </a:solidFill>
          <a:ln w="38100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438912"/>
            <a:ext cx="11173968" cy="5961888"/>
          </a:xfrm>
          <a:prstGeom prst="rect">
            <a:avLst/>
          </a:prstGeom>
          <a:noFill/>
          <a:ln w="12700">
            <a:solidFill>
              <a:srgbClr val="C3C7CA"/>
            </a:solidFill>
            <a:prstDash val="dash"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10312"/>
            <a:ext cx="1800606" cy="2743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173736"/>
            <a:ext cx="1800606" cy="274320"/>
          </a:xfrm>
          <a:prstGeom prst="rect">
            <a:avLst/>
          </a:prstGeom>
          <a:solidFill>
            <a:srgbClr val="FF4453"/>
          </a:solidFill>
          <a:ln w="19050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50" b="1" i="0" lang="en-US">
                <a:solidFill>
                  <a:srgbClr val="FFFFFF"/>
                </a:solidFill>
                <a:latin typeface="Courier New"/>
                <a:cs typeface="Courier New"/>
              </a:rPr>
              <a:t>SLIDE 02 // THE PROBLEM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566928"/>
            <a:ext cx="2529840" cy="256032"/>
          </a:xfrm>
          <a:prstGeom prst="rect">
            <a:avLst/>
          </a:prstGeom>
          <a:solidFill>
            <a:srgbClr val="ECEEEF"/>
          </a:solidFill>
          <a:ln w="9525">
            <a:solidFill>
              <a:srgbClr val="B8C0C6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00" b="1" i="0" lang="en-US">
                <a:solidFill>
                  <a:srgbClr val="10283F"/>
                </a:solidFill>
                <a:latin typeface="Courier New"/>
                <a:cs typeface="Courier New"/>
              </a:rPr>
              <a:t>TRADITIONAL VOTING FLAWS &amp; CHALLENGES</a:t>
            </a:r>
          </a:p>
        </p:txBody>
      </p:sp>
      <p:sp>
        <p:nvSpPr>
          <p:cNvPr id="9" name="Oval 8"/>
          <p:cNvSpPr/>
          <p:nvPr/>
        </p:nvSpPr>
        <p:spPr>
          <a:xfrm>
            <a:off x="11219688" y="640080"/>
            <a:ext cx="118872" cy="118872"/>
          </a:xfrm>
          <a:prstGeom prst="ellipse">
            <a:avLst/>
          </a:prstGeom>
          <a:solidFill>
            <a:srgbClr val="FF4453"/>
          </a:solidFill>
          <a:ln w="15240">
            <a:solidFill>
              <a:srgbClr val="10283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81400" y="530352"/>
            <a:ext cx="7519415" cy="32918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1050" b="1" i="0" lang="ar-EG">
                <a:solidFill>
                  <a:srgbClr val="10283F"/>
                </a:solidFill>
                <a:latin typeface="Cairo"/>
                <a:cs typeface="Cairo"/>
              </a:rPr>
              <a:t>المشكلة والأزمة القبلية (⁦The Problem - Before⁩)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950976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12" name="Rectangle 11"/>
          <p:cNvSpPr/>
          <p:nvPr/>
        </p:nvSpPr>
        <p:spPr>
          <a:xfrm>
            <a:off x="10378440" y="1042415"/>
            <a:ext cx="960119" cy="256032"/>
          </a:xfrm>
          <a:prstGeom prst="rect">
            <a:avLst/>
          </a:prstGeom>
          <a:solidFill>
            <a:srgbClr val="0C2237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ROOT PROBLEM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1042415"/>
            <a:ext cx="1874519" cy="256032"/>
          </a:xfrm>
          <a:prstGeom prst="rect">
            <a:avLst/>
          </a:prstGeom>
          <a:solidFill>
            <a:srgbClr val="E6BD5D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0C2237"/>
                </a:solidFill>
                <a:latin typeface="Cairo"/>
                <a:cs typeface="Cairo"/>
              </a:rPr>
              <a:t>ثغرات الاقتراع التقليدي الورقي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9500" y="1042415"/>
            <a:ext cx="1074420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4453"/>
                </a:solidFill>
                <a:latin typeface="Courier New"/>
                <a:cs typeface="Courier New"/>
              </a:rPr>
              <a:t>CRITICAL FLAWS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1371600"/>
            <a:ext cx="10469880" cy="566928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08000"/>
              </a:lnSpc>
            </a:pPr>
            <a:r>
              <a:rPr sz="2600" b="1" i="0" lang="ar-EG">
                <a:solidFill>
                  <a:srgbClr val="10283F"/>
                </a:solidFill>
                <a:latin typeface="Cairo"/>
                <a:cs typeface="Cairo"/>
              </a:rPr>
              <a:t>أزمة النظم التقليدية: </a:t>
            </a:r>
            <a:r>
              <a:rPr sz="2600" b="1" i="0" lang="ar-EG">
                <a:solidFill>
                  <a:srgbClr val="FF4453"/>
                </a:solidFill>
                <a:latin typeface="Cairo"/>
                <a:cs typeface="Cairo"/>
              </a:rPr>
              <a:t>أين يفشل الاقتراع الورقي؟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1938528"/>
            <a:ext cx="10469880" cy="36576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25000"/>
              </a:lnSpc>
            </a:pPr>
            <a:r>
              <a:rPr sz="1150" b="0" i="0" lang="ar-EG">
                <a:solidFill>
                  <a:srgbClr val="2B3E50"/>
                </a:solidFill>
                <a:latin typeface="Cairo"/>
                <a:cs typeface="Cairo"/>
              </a:rPr>
              <a:t>تواجه العمليات الانتخابية التقليدية والطلابية ⁦5⁩ أزمات هيكلية تكلف ملايين الجنيهات وتفتح أبواب التشكيك في النزاهة: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4528" y="2532888"/>
            <a:ext cx="3368040" cy="1691640"/>
          </a:xfrm>
          <a:prstGeom prst="rect">
            <a:avLst/>
          </a:prstGeom>
          <a:solidFill>
            <a:srgbClr val="FF4453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70520" y="2468880"/>
            <a:ext cx="3368040" cy="1691640"/>
          </a:xfrm>
          <a:prstGeom prst="rect">
            <a:avLst/>
          </a:prstGeom>
          <a:solidFill>
            <a:srgbClr val="FFFFFF"/>
          </a:solidFill>
          <a:ln w="22225">
            <a:solidFill>
              <a:srgbClr val="FF4453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389364" y="2606040"/>
            <a:ext cx="1802892" cy="228600"/>
          </a:xfrm>
          <a:prstGeom prst="rect">
            <a:avLst/>
          </a:prstGeom>
          <a:solidFill>
            <a:srgbClr val="FF4453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FFFFFF"/>
                </a:solidFill>
                <a:latin typeface="Cairo"/>
                <a:cs typeface="Cairo"/>
              </a:rPr>
              <a:t>⁦01⁩ // انتحال الشخصية والتزوير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6824" y="2889504"/>
            <a:ext cx="3075432" cy="1183233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</a:pPr>
            <a:r>
              <a:rPr sz="1250" b="1" i="0" lang="ar-EG">
                <a:solidFill>
                  <a:srgbClr val="10283F"/>
                </a:solidFill>
                <a:latin typeface="Cairo"/>
                <a:cs typeface="Cairo"/>
              </a:rPr>
              <a:t>انتحال الشخصية (⁦Impersonation⁩)</a:t>
            </a:r>
          </a:p>
          <a:p>
            <a:pPr algn="r" rtl="1">
              <a:lnSpc>
                <a:spcPct val="122000"/>
              </a:lnSpc>
              <a:spcBef>
                <a:spcPts val="300"/>
              </a:spcBef>
            </a:pPr>
            <a:r>
              <a:rPr sz="1050" b="0" i="0" lang="ar-EG">
                <a:solidFill>
                  <a:srgbClr val="10283F"/>
                </a:solidFill>
                <a:latin typeface="Cairo"/>
                <a:cs typeface="Cairo"/>
              </a:rPr>
              <a:t>سهولة استخدام بطاقات ورقية مسروقة أو التصويت بأسماء طلاب غائبين أو متوفين في ظل الفحص البصري البشري المرهق والمعرض للأخطاء.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3607" y="2532888"/>
            <a:ext cx="3368040" cy="1691640"/>
          </a:xfrm>
          <a:prstGeom prst="rect">
            <a:avLst/>
          </a:prstGeom>
          <a:solidFill>
            <a:srgbClr val="FF4453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19599" y="2468880"/>
            <a:ext cx="3368040" cy="1691640"/>
          </a:xfrm>
          <a:prstGeom prst="rect">
            <a:avLst/>
          </a:prstGeom>
          <a:solidFill>
            <a:srgbClr val="FFFFFF"/>
          </a:solidFill>
          <a:ln w="22225">
            <a:solidFill>
              <a:srgbClr val="FF4453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71843" y="2606040"/>
            <a:ext cx="1269492" cy="228600"/>
          </a:xfrm>
          <a:prstGeom prst="rect">
            <a:avLst/>
          </a:prstGeom>
          <a:solidFill>
            <a:srgbClr val="FF4453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FFFFFF"/>
                </a:solidFill>
                <a:latin typeface="Cairo"/>
                <a:cs typeface="Cairo"/>
              </a:rPr>
              <a:t>⁦02⁩ // تكرار التصويت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65903" y="2889504"/>
            <a:ext cx="3075432" cy="1183233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</a:pPr>
            <a:r>
              <a:rPr sz="1250" b="1" i="0" lang="ar-EG">
                <a:solidFill>
                  <a:srgbClr val="10283F"/>
                </a:solidFill>
                <a:latin typeface="Cairo"/>
                <a:cs typeface="Cairo"/>
              </a:rPr>
              <a:t>تكرار التصويت (⁦Double Voting⁩)</a:t>
            </a:r>
          </a:p>
          <a:p>
            <a:pPr algn="r" rtl="1">
              <a:lnSpc>
                <a:spcPct val="122000"/>
              </a:lnSpc>
              <a:spcBef>
                <a:spcPts val="300"/>
              </a:spcBef>
            </a:pPr>
            <a:r>
              <a:rPr sz="1050" b="0" i="0" lang="ar-EG">
                <a:solidFill>
                  <a:srgbClr val="10283F"/>
                </a:solidFill>
                <a:latin typeface="Cairo"/>
                <a:cs typeface="Cairo"/>
              </a:rPr>
              <a:t>غياب الربط اللحظي الموحد بين اللجان المدرسية والفرعية، مما يتيح للناخب الإدلاء بصوته في أكثر من لجنة أو كشف دون اكتشاف فوري.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2687" y="2532888"/>
            <a:ext cx="3368040" cy="1691640"/>
          </a:xfrm>
          <a:prstGeom prst="rect">
            <a:avLst/>
          </a:prstGeom>
          <a:solidFill>
            <a:srgbClr val="FF4453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68679" y="2468880"/>
            <a:ext cx="3368040" cy="1691640"/>
          </a:xfrm>
          <a:prstGeom prst="rect">
            <a:avLst/>
          </a:prstGeom>
          <a:solidFill>
            <a:srgbClr val="FFFFFF"/>
          </a:solidFill>
          <a:ln w="22225">
            <a:solidFill>
              <a:srgbClr val="FF4453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27503" y="2606040"/>
            <a:ext cx="1962911" cy="228600"/>
          </a:xfrm>
          <a:prstGeom prst="rect">
            <a:avLst/>
          </a:prstGeom>
          <a:solidFill>
            <a:srgbClr val="FF4453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FFFFFF"/>
                </a:solidFill>
                <a:latin typeface="Cairo"/>
                <a:cs typeface="Cairo"/>
              </a:rPr>
              <a:t>⁦03⁩ // التكلفة اللوجستية والورقية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3" y="2889504"/>
            <a:ext cx="3075432" cy="1183233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</a:pPr>
            <a:r>
              <a:rPr sz="1250" b="1" i="0" lang="ar-EG">
                <a:solidFill>
                  <a:srgbClr val="10283F"/>
                </a:solidFill>
                <a:latin typeface="Cairo"/>
                <a:cs typeface="Cairo"/>
              </a:rPr>
              <a:t>إهدار مالي وبيئي ضخم</a:t>
            </a:r>
          </a:p>
          <a:p>
            <a:pPr algn="r" rtl="1">
              <a:lnSpc>
                <a:spcPct val="122000"/>
              </a:lnSpc>
              <a:spcBef>
                <a:spcPts val="300"/>
              </a:spcBef>
            </a:pPr>
            <a:r>
              <a:rPr sz="1050" b="0" i="0" lang="ar-EG">
                <a:solidFill>
                  <a:srgbClr val="10283F"/>
                </a:solidFill>
                <a:latin typeface="Cairo"/>
                <a:cs typeface="Cairo"/>
              </a:rPr>
              <a:t>ملايين الأوراق المطبوعة، الأحبار الفسفورية، الصناديق البلاستيكية، وأساطيل النقل الأمني والفرز، مسببة هدراً مالياً وأثراً كربونياً هائلاً.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59068" y="4379976"/>
            <a:ext cx="5143500" cy="1463040"/>
          </a:xfrm>
          <a:prstGeom prst="rect">
            <a:avLst/>
          </a:prstGeom>
          <a:solidFill>
            <a:srgbClr val="E6BD5D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5059" y="4315968"/>
            <a:ext cx="5143500" cy="1463040"/>
          </a:xfrm>
          <a:prstGeom prst="rect">
            <a:avLst/>
          </a:prstGeom>
          <a:solidFill>
            <a:srgbClr val="FFFDF2"/>
          </a:solidFill>
          <a:ln w="22225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29344" y="4453128"/>
            <a:ext cx="1962911" cy="22860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FFFFFF"/>
                </a:solidFill>
                <a:latin typeface="Cairo"/>
                <a:cs typeface="Cairo"/>
              </a:rPr>
              <a:t>⁦04⁩ // بطء الفرز والأخطاء البشرية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41364" y="4736592"/>
            <a:ext cx="4850892" cy="954633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</a:pPr>
            <a:r>
              <a:rPr sz="1250" b="1" i="0" lang="ar-EG">
                <a:solidFill>
                  <a:srgbClr val="10283F"/>
                </a:solidFill>
                <a:latin typeface="Cairo"/>
                <a:cs typeface="Cairo"/>
              </a:rPr>
              <a:t>ساعات وأيام من الفرز اليدوي</a:t>
            </a:r>
          </a:p>
          <a:p>
            <a:pPr algn="r" rtl="1">
              <a:lnSpc>
                <a:spcPct val="122000"/>
              </a:lnSpc>
              <a:spcBef>
                <a:spcPts val="300"/>
              </a:spcBef>
            </a:pPr>
            <a:r>
              <a:rPr sz="1050" b="0" i="0" lang="ar-EG">
                <a:solidFill>
                  <a:srgbClr val="10283F"/>
                </a:solidFill>
                <a:latin typeface="Cairo"/>
                <a:cs typeface="Cairo"/>
              </a:rPr>
              <a:t>استغراق ساعات طويلة في العد والفرز اليدوي، مع احتمالية الخطأ في حساب الأصوات الباطلة وتأخر إعلان النتائج مما يثير التوترات.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2687" y="4379976"/>
            <a:ext cx="5143500" cy="1463040"/>
          </a:xfrm>
          <a:prstGeom prst="rect">
            <a:avLst/>
          </a:prstGeom>
          <a:solidFill>
            <a:srgbClr val="E6BD5D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68679" y="4315968"/>
            <a:ext cx="5143500" cy="1463040"/>
          </a:xfrm>
          <a:prstGeom prst="rect">
            <a:avLst/>
          </a:prstGeom>
          <a:solidFill>
            <a:srgbClr val="FFFDF2"/>
          </a:solidFill>
          <a:ln w="22225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49623" y="4453128"/>
            <a:ext cx="2016252" cy="22860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FFFFFF"/>
                </a:solidFill>
                <a:latin typeface="Cairo"/>
                <a:cs typeface="Cairo"/>
              </a:rPr>
              <a:t>⁦05⁩ // شبهات الإكراه وشراء الأصوات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4983" y="4736592"/>
            <a:ext cx="4850892" cy="954633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</a:pPr>
            <a:r>
              <a:rPr sz="1250" b="1" i="0" lang="ar-EG">
                <a:solidFill>
                  <a:srgbClr val="10283F"/>
                </a:solidFill>
                <a:latin typeface="Cairo"/>
                <a:cs typeface="Cairo"/>
              </a:rPr>
              <a:t>غياب التحقق السري المستقل</a:t>
            </a:r>
          </a:p>
          <a:p>
            <a:pPr algn="r" rtl="1">
              <a:lnSpc>
                <a:spcPct val="122000"/>
              </a:lnSpc>
              <a:spcBef>
                <a:spcPts val="300"/>
              </a:spcBef>
            </a:pPr>
            <a:r>
              <a:rPr sz="1050" b="0" i="0" lang="ar-EG">
                <a:solidFill>
                  <a:srgbClr val="10283F"/>
                </a:solidFill>
                <a:latin typeface="Cairo"/>
                <a:cs typeface="Cairo"/>
              </a:rPr>
              <a:t>صعوبة إثبات أن الناخب صوّت بإرادته الحرة دون إكراه من جهات أو أفراد، مع انعدام إمكانية تدقيق الناخب لوجود صوته في الصندوق لاحقاً.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68680" y="5961888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38" name="Rectangle 37"/>
          <p:cNvSpPr/>
          <p:nvPr/>
        </p:nvSpPr>
        <p:spPr>
          <a:xfrm>
            <a:off x="4023360" y="60350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محور التحليل: </a:t>
            </a:r>
            <a:r>
              <a:rPr sz="850" b="1" i="0" lang="ar-EG">
                <a:solidFill>
                  <a:srgbClr val="0C2237"/>
                </a:solidFill>
                <a:latin typeface="Cairo"/>
                <a:cs typeface="Cairo"/>
              </a:rPr>
              <a:t>أوجه القصور في المنظومة التقليدية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" y="6035040"/>
            <a:ext cx="315468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l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الشريحة </a:t>
            </a:r>
            <a:r>
              <a:rPr sz="850" b="1" i="0" lang="ar-EG">
                <a:solidFill>
                  <a:srgbClr val="0C2237"/>
                </a:solidFill>
                <a:latin typeface="Cairo"/>
                <a:cs typeface="Cairo"/>
              </a:rPr>
              <a:t>⁦02⁩ من ⁦12⁩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7784" y="484632"/>
            <a:ext cx="11430000" cy="6217920"/>
          </a:xfrm>
          <a:prstGeom prst="rect">
            <a:avLst/>
          </a:prstGeom>
          <a:solidFill>
            <a:srgbClr val="58D5CC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9204" y="425196"/>
            <a:ext cx="11430000" cy="62179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310896"/>
            <a:ext cx="11430000" cy="6217920"/>
          </a:xfrm>
          <a:prstGeom prst="rect">
            <a:avLst/>
          </a:prstGeom>
          <a:solidFill>
            <a:srgbClr val="FBF9F1"/>
          </a:solidFill>
          <a:ln w="38100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438912"/>
            <a:ext cx="11173968" cy="5961888"/>
          </a:xfrm>
          <a:prstGeom prst="rect">
            <a:avLst/>
          </a:prstGeom>
          <a:noFill/>
          <a:ln w="12700">
            <a:solidFill>
              <a:srgbClr val="C3C7CA"/>
            </a:solidFill>
            <a:prstDash val="dash"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10312"/>
            <a:ext cx="1800606" cy="2743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173736"/>
            <a:ext cx="1800606" cy="274320"/>
          </a:xfrm>
          <a:prstGeom prst="rect">
            <a:avLst/>
          </a:prstGeom>
          <a:solidFill>
            <a:srgbClr val="FF4453"/>
          </a:solidFill>
          <a:ln w="19050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50" b="1" i="0" lang="en-US">
                <a:solidFill>
                  <a:srgbClr val="FFFFFF"/>
                </a:solidFill>
                <a:latin typeface="Courier New"/>
                <a:cs typeface="Courier New"/>
              </a:rPr>
              <a:t>SLIDE 03 // THE DILEMMA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566928"/>
            <a:ext cx="2407920" cy="256032"/>
          </a:xfrm>
          <a:prstGeom prst="rect">
            <a:avLst/>
          </a:prstGeom>
          <a:solidFill>
            <a:srgbClr val="ECEEEF"/>
          </a:solidFill>
          <a:ln w="9525">
            <a:solidFill>
              <a:srgbClr val="B8C0C6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00" b="1" i="0" lang="en-US">
                <a:solidFill>
                  <a:srgbClr val="10283F"/>
                </a:solidFill>
                <a:latin typeface="Courier New"/>
                <a:cs typeface="Courier New"/>
              </a:rPr>
              <a:t>AUTHENTICATION VS ANONYMITY PARADOX</a:t>
            </a:r>
          </a:p>
        </p:txBody>
      </p:sp>
      <p:sp>
        <p:nvSpPr>
          <p:cNvPr id="9" name="Oval 8"/>
          <p:cNvSpPr/>
          <p:nvPr/>
        </p:nvSpPr>
        <p:spPr>
          <a:xfrm>
            <a:off x="11219688" y="640080"/>
            <a:ext cx="118872" cy="118872"/>
          </a:xfrm>
          <a:prstGeom prst="ellipse">
            <a:avLst/>
          </a:prstGeom>
          <a:solidFill>
            <a:srgbClr val="E6BD5D"/>
          </a:solidFill>
          <a:ln w="15240">
            <a:solidFill>
              <a:srgbClr val="10283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59480" y="530352"/>
            <a:ext cx="7641336" cy="32918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1050" b="1" i="0" lang="ar-EG">
                <a:solidFill>
                  <a:srgbClr val="10283F"/>
                </a:solidFill>
                <a:latin typeface="Cairo"/>
                <a:cs typeface="Cairo"/>
              </a:rPr>
              <a:t>المعضلة الكبرى للتصويت الرقمي (⁦The Core Paradox⁩)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950976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12" name="Rectangle 11"/>
          <p:cNvSpPr/>
          <p:nvPr/>
        </p:nvSpPr>
        <p:spPr>
          <a:xfrm>
            <a:off x="10092690" y="1042415"/>
            <a:ext cx="1245870" cy="256032"/>
          </a:xfrm>
          <a:prstGeom prst="rect">
            <a:avLst/>
          </a:prstGeom>
          <a:solidFill>
            <a:srgbClr val="0C2237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THE GRAND PARADOX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1549" y="1042415"/>
            <a:ext cx="1501140" cy="256032"/>
          </a:xfrm>
          <a:prstGeom prst="rect">
            <a:avLst/>
          </a:prstGeom>
          <a:solidFill>
            <a:srgbClr val="E6BD5D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0C2237"/>
                </a:solidFill>
                <a:latin typeface="Cairo"/>
                <a:cs typeface="Cairo"/>
              </a:rPr>
              <a:t>معضلة الهندسة التشفيرية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45679" y="1042415"/>
            <a:ext cx="1245870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4453"/>
                </a:solidFill>
                <a:latin typeface="Courier New"/>
                <a:cs typeface="Courier New"/>
              </a:rPr>
              <a:t>THE CORE QUESTION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1371600"/>
            <a:ext cx="10469880" cy="566928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08000"/>
              </a:lnSpc>
            </a:pPr>
            <a:r>
              <a:rPr sz="2600" b="1" i="0" lang="ar-EG">
                <a:solidFill>
                  <a:srgbClr val="10283F"/>
                </a:solidFill>
                <a:latin typeface="Cairo"/>
                <a:cs typeface="Cairo"/>
              </a:rPr>
              <a:t>المعضلة الكبرى: </a:t>
            </a:r>
            <a:r>
              <a:rPr sz="2600" b="1" i="0" lang="ar-EG">
                <a:solidFill>
                  <a:srgbClr val="FF4453"/>
                </a:solidFill>
                <a:latin typeface="Cairo"/>
                <a:cs typeface="Cairo"/>
              </a:rPr>
              <a:t>كيف نتحقق بيومترياً دون كشف الصوت؟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" y="2084832"/>
            <a:ext cx="10469880" cy="1481328"/>
          </a:xfrm>
          <a:prstGeom prst="rect">
            <a:avLst/>
          </a:prstGeom>
          <a:solidFill>
            <a:srgbClr val="58D5CC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2011680"/>
            <a:ext cx="10469880" cy="1481328"/>
          </a:xfrm>
          <a:prstGeom prst="rect">
            <a:avLst/>
          </a:prstGeom>
          <a:solidFill>
            <a:srgbClr val="0C2237"/>
          </a:solidFill>
          <a:ln w="22225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51560" y="2157984"/>
            <a:ext cx="10104120" cy="1207008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15000"/>
              </a:lnSpc>
            </a:pPr>
            <a:r>
              <a:rPr sz="1500" b="1" i="0" lang="ar-EG">
                <a:solidFill>
                  <a:srgbClr val="E6BD5D"/>
                </a:solidFill>
                <a:latin typeface="Cairo"/>
                <a:cs typeface="Cairo"/>
              </a:rPr>
              <a:t>«كيف نتحقق بيومترياً من شخصية الناخب لمنع التزوير، دون أن نكشف أو نخزن لمن ذهب صوته؟»</a:t>
            </a:r>
          </a:p>
          <a:p>
            <a:pPr algn="r" rtl="1">
              <a:lnSpc>
                <a:spcPct val="122000"/>
              </a:lnSpc>
              <a:spcBef>
                <a:spcPts val="600"/>
              </a:spcBef>
            </a:pPr>
            <a:r>
              <a:rPr sz="1200" b="0" i="0" lang="ar-EG">
                <a:solidFill>
                  <a:srgbClr val="E2E8F0"/>
                </a:solidFill>
                <a:latin typeface="Cairo"/>
                <a:cs typeface="Cairo"/>
              </a:rPr>
              <a:t>في الأنظمة الرقمية العادية: كلما زادت دقة التحقق من هوية المستخدم (⁦User Authentication⁩)، أصبح من السهل ربط هويته ببياناته المسجلة (⁦Activity Tracking⁩). لكن في </a:t>
            </a:r>
            <a:r>
              <a:rPr sz="1200" b="1" i="0" lang="ar-EG">
                <a:solidFill>
                  <a:srgbClr val="E2E8F0"/>
                </a:solidFill>
                <a:latin typeface="Cairo"/>
                <a:cs typeface="Cairo"/>
              </a:rPr>
              <a:t>الانتخابات الدستورية والطلابية</a:t>
            </a:r>
            <a:r>
              <a:rPr sz="1200" b="0" i="0" lang="ar-EG">
                <a:solidFill>
                  <a:srgbClr val="E2E8F0"/>
                </a:solidFill>
                <a:latin typeface="Cairo"/>
                <a:cs typeface="Cairo"/>
              </a:rPr>
              <a:t>، كشف خيار الناخب يعد </a:t>
            </a:r>
            <a:r>
              <a:rPr sz="1200" b="1" i="0" lang="ar-EG">
                <a:solidFill>
                  <a:srgbClr val="E2E8F0"/>
                </a:solidFill>
                <a:latin typeface="Cairo"/>
                <a:cs typeface="Cairo"/>
              </a:rPr>
              <a:t>جريمة وانتهاكاً لسرية الاقتراع</a:t>
            </a:r>
            <a:r>
              <a:rPr sz="1200" b="0" i="0" lang="en-US">
                <a:solidFill>
                  <a:srgbClr val="E2E8F0"/>
                </a:solidFill>
                <a:latin typeface="Cairo"/>
                <a:cs typeface="Cairo"/>
              </a:rPr>
              <a:t>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9068" y="3721608"/>
            <a:ext cx="5143500" cy="2194560"/>
          </a:xfrm>
          <a:prstGeom prst="rect">
            <a:avLst/>
          </a:prstGeom>
          <a:solidFill>
            <a:srgbClr val="FF4453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5059" y="3657600"/>
            <a:ext cx="5143500" cy="2194560"/>
          </a:xfrm>
          <a:prstGeom prst="rect">
            <a:avLst/>
          </a:prstGeom>
          <a:solidFill>
            <a:srgbClr val="FFFFFF"/>
          </a:solidFill>
          <a:ln w="22225">
            <a:solidFill>
              <a:srgbClr val="FF4453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89364" y="3794760"/>
            <a:ext cx="1802892" cy="228600"/>
          </a:xfrm>
          <a:prstGeom prst="rect">
            <a:avLst/>
          </a:prstGeom>
          <a:solidFill>
            <a:srgbClr val="FF4453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FFFFFF"/>
                </a:solidFill>
                <a:latin typeface="Cairo"/>
                <a:cs typeface="Cairo"/>
              </a:rPr>
              <a:t>الطرف الأول // التوثيق القاطع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41364" y="4078224"/>
            <a:ext cx="4850892" cy="1686153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</a:pPr>
            <a:r>
              <a:rPr sz="1250" b="1" i="0" lang="ar-EG">
                <a:solidFill>
                  <a:srgbClr val="10283F"/>
                </a:solidFill>
                <a:latin typeface="Cairo"/>
                <a:cs typeface="Cairo"/>
              </a:rPr>
              <a:t>ضرورة التحقق البيومتري (⁦Authentication⁩)</a:t>
            </a:r>
          </a:p>
          <a:p>
            <a:pPr algn="r" rtl="1" marL="182880" indent="-182880">
              <a:lnSpc>
                <a:spcPct val="120000"/>
              </a:lnSpc>
              <a:spcBef>
                <a:spcPts val="500"/>
              </a:spcBef>
              <a:buFont typeface="Arial"/>
              <a:buChar char="•"/>
            </a:pPr>
            <a:r>
              <a:rPr sz="1100" b="0" i="0" lang="ar-EG">
                <a:solidFill>
                  <a:srgbClr val="10283F"/>
                </a:solidFill>
                <a:latin typeface="Cairo"/>
                <a:cs typeface="Cairo"/>
              </a:rPr>
              <a:t>منع انتحال الشخصية والتصويت بالنيابة.</a:t>
            </a:r>
          </a:p>
          <a:p>
            <a:pPr algn="r" rtl="1" marL="182880" indent="-182880">
              <a:lnSpc>
                <a:spcPct val="120000"/>
              </a:lnSpc>
              <a:spcBef>
                <a:spcPts val="300"/>
              </a:spcBef>
              <a:buFont typeface="Arial"/>
              <a:buChar char="•"/>
            </a:pPr>
            <a:r>
              <a:rPr sz="1100" b="0" i="0" lang="ar-EG">
                <a:solidFill>
                  <a:srgbClr val="10283F"/>
                </a:solidFill>
                <a:latin typeface="Cairo"/>
                <a:cs typeface="Cairo"/>
              </a:rPr>
              <a:t>التأكد من أن الناخب مقيد في السجل المدني / المدرسي.</a:t>
            </a:r>
          </a:p>
          <a:p>
            <a:pPr algn="r" rtl="1" marL="182880" indent="-182880">
              <a:lnSpc>
                <a:spcPct val="120000"/>
              </a:lnSpc>
              <a:spcBef>
                <a:spcPts val="300"/>
              </a:spcBef>
              <a:buFont typeface="Arial"/>
              <a:buChar char="•"/>
            </a:pPr>
            <a:r>
              <a:rPr sz="1100" b="0" i="0" lang="ar-EG">
                <a:solidFill>
                  <a:srgbClr val="10283F"/>
                </a:solidFill>
                <a:latin typeface="Cairo"/>
                <a:cs typeface="Cairo"/>
              </a:rPr>
              <a:t>ضمان كشف الحياة (⁦Liveness⁩) لمنع الصور والشاشات المزيفة.</a:t>
            </a:r>
          </a:p>
          <a:p>
            <a:pPr algn="r" rtl="1" marL="182880" indent="-182880">
              <a:lnSpc>
                <a:spcPct val="120000"/>
              </a:lnSpc>
              <a:spcBef>
                <a:spcPts val="300"/>
              </a:spcBef>
              <a:buFont typeface="Arial"/>
              <a:buChar char="•"/>
            </a:pPr>
            <a:r>
              <a:rPr sz="1100" b="0" i="0" lang="ar-EG">
                <a:solidFill>
                  <a:srgbClr val="10283F"/>
                </a:solidFill>
                <a:latin typeface="Cairo"/>
                <a:cs typeface="Cairo"/>
              </a:rPr>
              <a:t>تسجيل أن هذا الرقم القومي قام بالتصويت لمنع التكرار.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687" y="3721608"/>
            <a:ext cx="5143500" cy="2194560"/>
          </a:xfrm>
          <a:prstGeom prst="rect">
            <a:avLst/>
          </a:prstGeom>
          <a:solidFill>
            <a:srgbClr val="43BF86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68679" y="3657600"/>
            <a:ext cx="5143500" cy="2194560"/>
          </a:xfrm>
          <a:prstGeom prst="rect">
            <a:avLst/>
          </a:prstGeom>
          <a:solidFill>
            <a:srgbClr val="F0FBF5"/>
          </a:solidFill>
          <a:ln w="22225">
            <a:solidFill>
              <a:srgbClr val="43BF86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09643" y="3794760"/>
            <a:ext cx="1856232" cy="228600"/>
          </a:xfrm>
          <a:prstGeom prst="rect">
            <a:avLst/>
          </a:prstGeom>
          <a:solidFill>
            <a:srgbClr val="43BF86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FFFFFF"/>
                </a:solidFill>
                <a:latin typeface="Cairo"/>
                <a:cs typeface="Cairo"/>
              </a:rPr>
              <a:t>الطرف الثاني // السرية المطلقة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4983" y="4078224"/>
            <a:ext cx="4850892" cy="1686153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</a:pPr>
            <a:r>
              <a:rPr sz="1250" b="1" i="0" lang="ar-EG">
                <a:solidFill>
                  <a:srgbClr val="10283F"/>
                </a:solidFill>
                <a:latin typeface="Cairo"/>
                <a:cs typeface="Cairo"/>
              </a:rPr>
              <a:t>حتمية سرية الاقتراع (⁦Ballot Anonymity⁩)</a:t>
            </a:r>
          </a:p>
          <a:p>
            <a:pPr algn="r" rtl="1" marL="182880" indent="-182880">
              <a:lnSpc>
                <a:spcPct val="120000"/>
              </a:lnSpc>
              <a:spcBef>
                <a:spcPts val="500"/>
              </a:spcBef>
              <a:buFont typeface="Arial"/>
              <a:buChar char="•"/>
            </a:pPr>
            <a:r>
              <a:rPr sz="1100" b="0" i="0" lang="ar-EG">
                <a:solidFill>
                  <a:srgbClr val="10283F"/>
                </a:solidFill>
                <a:latin typeface="Cairo"/>
                <a:cs typeface="Cairo"/>
              </a:rPr>
              <a:t>حظر تخزين أي علاقة بين الرقم القومي وخيار المرشح.</a:t>
            </a:r>
          </a:p>
          <a:p>
            <a:pPr algn="r" rtl="1" marL="182880" indent="-182880">
              <a:lnSpc>
                <a:spcPct val="120000"/>
              </a:lnSpc>
              <a:spcBef>
                <a:spcPts val="300"/>
              </a:spcBef>
              <a:buFont typeface="Arial"/>
              <a:buChar char="•"/>
            </a:pPr>
            <a:r>
              <a:rPr sz="1100" b="0" i="0" lang="ar-EG">
                <a:solidFill>
                  <a:srgbClr val="10283F"/>
                </a:solidFill>
                <a:latin typeface="Cairo"/>
                <a:cs typeface="Cairo"/>
              </a:rPr>
              <a:t>استحالة قيام مدير النظام أو قاعدة البيانات بمعرفة من صوّت لمن.</a:t>
            </a:r>
          </a:p>
          <a:p>
            <a:pPr algn="r" rtl="1" marL="182880" indent="-182880">
              <a:lnSpc>
                <a:spcPct val="120000"/>
              </a:lnSpc>
              <a:spcBef>
                <a:spcPts val="300"/>
              </a:spcBef>
              <a:buFont typeface="Arial"/>
              <a:buChar char="•"/>
            </a:pPr>
            <a:r>
              <a:rPr sz="1100" b="0" i="0" lang="ar-EG">
                <a:solidFill>
                  <a:srgbClr val="10283F"/>
                </a:solidFill>
                <a:latin typeface="Cairo"/>
                <a:cs typeface="Cairo"/>
              </a:rPr>
              <a:t>حماية الناخب من أي إكراه أو ملاحقة أو شراء أصوات.</a:t>
            </a:r>
          </a:p>
          <a:p>
            <a:pPr algn="r" rtl="1" marL="182880" indent="-182880">
              <a:lnSpc>
                <a:spcPct val="120000"/>
              </a:lnSpc>
              <a:spcBef>
                <a:spcPts val="300"/>
              </a:spcBef>
              <a:buFont typeface="Arial"/>
              <a:buChar char="•"/>
            </a:pPr>
            <a:r>
              <a:rPr sz="1100" b="0" i="0" lang="ar-EG">
                <a:solidFill>
                  <a:srgbClr val="10283F"/>
                </a:solidFill>
                <a:latin typeface="Cairo"/>
                <a:cs typeface="Cairo"/>
              </a:rPr>
              <a:t>إصدار إيصال تشفيري للناخب دون كشف اختياره.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68680" y="5961888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28" name="Rectangle 27"/>
          <p:cNvSpPr/>
          <p:nvPr/>
        </p:nvSpPr>
        <p:spPr>
          <a:xfrm>
            <a:off x="4023360" y="60350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المعادلة الصعبة: </a:t>
            </a:r>
            <a:r>
              <a:rPr sz="850" b="1" i="0" lang="ar-EG">
                <a:solidFill>
                  <a:srgbClr val="0C2237"/>
                </a:solidFill>
                <a:latin typeface="Cairo"/>
                <a:cs typeface="Cairo"/>
              </a:rPr>
              <a:t>فصل التوثيق عن المحتوى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" y="6035040"/>
            <a:ext cx="315468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l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الشريحة </a:t>
            </a:r>
            <a:r>
              <a:rPr sz="850" b="1" i="0" lang="ar-EG">
                <a:solidFill>
                  <a:srgbClr val="0C2237"/>
                </a:solidFill>
                <a:latin typeface="Cairo"/>
                <a:cs typeface="Cairo"/>
              </a:rPr>
              <a:t>⁦03⁩ من ⁦12⁩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7784" y="484632"/>
            <a:ext cx="11430000" cy="6217920"/>
          </a:xfrm>
          <a:prstGeom prst="rect">
            <a:avLst/>
          </a:prstGeom>
          <a:solidFill>
            <a:srgbClr val="58D5CC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9204" y="425196"/>
            <a:ext cx="11430000" cy="62179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310896"/>
            <a:ext cx="11430000" cy="6217920"/>
          </a:xfrm>
          <a:prstGeom prst="rect">
            <a:avLst/>
          </a:prstGeom>
          <a:solidFill>
            <a:srgbClr val="FBF9F1"/>
          </a:solidFill>
          <a:ln w="38100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438912"/>
            <a:ext cx="11173968" cy="5961888"/>
          </a:xfrm>
          <a:prstGeom prst="rect">
            <a:avLst/>
          </a:prstGeom>
          <a:noFill/>
          <a:ln w="12700">
            <a:solidFill>
              <a:srgbClr val="C3C7CA"/>
            </a:solidFill>
            <a:prstDash val="dash"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10312"/>
            <a:ext cx="1865376" cy="2743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173736"/>
            <a:ext cx="1865376" cy="274320"/>
          </a:xfrm>
          <a:prstGeom prst="rect">
            <a:avLst/>
          </a:prstGeom>
          <a:solidFill>
            <a:srgbClr val="FF4453"/>
          </a:solidFill>
          <a:ln w="19050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50" b="1" i="0" lang="en-US">
                <a:solidFill>
                  <a:srgbClr val="FFFFFF"/>
                </a:solidFill>
                <a:latin typeface="Courier New"/>
                <a:cs typeface="Courier New"/>
              </a:rPr>
              <a:t>SLIDE 04 // THE SOLUTION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566928"/>
            <a:ext cx="2834639" cy="256032"/>
          </a:xfrm>
          <a:prstGeom prst="rect">
            <a:avLst/>
          </a:prstGeom>
          <a:solidFill>
            <a:srgbClr val="ECEEEF"/>
          </a:solidFill>
          <a:ln w="9525">
            <a:solidFill>
              <a:srgbClr val="B8C0C6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00" b="1" i="0" lang="en-US">
                <a:solidFill>
                  <a:srgbClr val="10283F"/>
                </a:solidFill>
                <a:latin typeface="Courier New"/>
                <a:cs typeface="Courier New"/>
              </a:rPr>
              <a:t>ZERO-LINK ARCHITECTURE &amp; TOKEN DE-COUPLING</a:t>
            </a:r>
          </a:p>
        </p:txBody>
      </p:sp>
      <p:sp>
        <p:nvSpPr>
          <p:cNvPr id="9" name="Oval 8"/>
          <p:cNvSpPr/>
          <p:nvPr/>
        </p:nvSpPr>
        <p:spPr>
          <a:xfrm>
            <a:off x="11219688" y="640080"/>
            <a:ext cx="118872" cy="118872"/>
          </a:xfrm>
          <a:prstGeom prst="ellipse">
            <a:avLst/>
          </a:prstGeom>
          <a:solidFill>
            <a:srgbClr val="43BF86"/>
          </a:solidFill>
          <a:ln w="15240">
            <a:solidFill>
              <a:srgbClr val="10283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86200" y="530352"/>
            <a:ext cx="7214616" cy="32918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1050" b="1" i="0" lang="ar-EG">
                <a:solidFill>
                  <a:srgbClr val="10283F"/>
                </a:solidFill>
                <a:latin typeface="Cairo"/>
                <a:cs typeface="Cairo"/>
              </a:rPr>
              <a:t>الحل والتقنية بعد المنظومة (⁦The Solution - After⁩)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950976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12" name="Rectangle 11"/>
          <p:cNvSpPr/>
          <p:nvPr/>
        </p:nvSpPr>
        <p:spPr>
          <a:xfrm>
            <a:off x="10149840" y="1042415"/>
            <a:ext cx="1188720" cy="256032"/>
          </a:xfrm>
          <a:prstGeom prst="rect">
            <a:avLst/>
          </a:prstGeom>
          <a:solidFill>
            <a:srgbClr val="0C2237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THE BREAKTHROUGH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1042415"/>
            <a:ext cx="1874519" cy="256032"/>
          </a:xfrm>
          <a:prstGeom prst="rect">
            <a:avLst/>
          </a:prstGeom>
          <a:solidFill>
            <a:srgbClr val="E6BD5D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0C2237"/>
                </a:solidFill>
                <a:latin typeface="Cairo"/>
                <a:cs typeface="Cairo"/>
              </a:rPr>
              <a:t>معمارية عزل الهوية (⁦Zero-Link⁩)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0" y="1042415"/>
            <a:ext cx="1417320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4453"/>
                </a:solidFill>
                <a:latin typeface="Courier New"/>
                <a:cs typeface="Courier New"/>
              </a:rPr>
              <a:t>HOW SOOT RESOLVES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1371600"/>
            <a:ext cx="10469880" cy="566928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08000"/>
              </a:lnSpc>
            </a:pPr>
            <a:r>
              <a:rPr sz="2500" b="1" i="0" lang="ar-EG">
                <a:solidFill>
                  <a:srgbClr val="10283F"/>
                </a:solidFill>
                <a:latin typeface="Cairo"/>
                <a:cs typeface="Cairo"/>
              </a:rPr>
              <a:t>حل المعادلة: </a:t>
            </a:r>
            <a:r>
              <a:rPr sz="2500" b="1" i="0" lang="ar-EG">
                <a:solidFill>
                  <a:srgbClr val="FF4453"/>
                </a:solidFill>
                <a:latin typeface="Cairo"/>
                <a:cs typeface="Cairo"/>
              </a:rPr>
              <a:t>الفصل التام بين مسار الهوية ومسار الاقتراع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1920240"/>
            <a:ext cx="10469880" cy="45720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25000"/>
              </a:lnSpc>
            </a:pPr>
            <a:r>
              <a:rPr sz="1150" b="0" i="0" lang="ar-EG">
                <a:solidFill>
                  <a:srgbClr val="2B3E50"/>
                </a:solidFill>
                <a:latin typeface="Cairo"/>
                <a:cs typeface="Cairo"/>
              </a:rPr>
              <a:t>تبتكر منظومة «صوت موثّق» معمارية ⁦Zero-Link⁩ متعددة المراحل تقطع أي صلة تشفيرية أو رقمية بين هوية الناخب وورقة اقتراعه: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2258" y="2606039"/>
            <a:ext cx="2480310" cy="1783080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58250" y="2542032"/>
            <a:ext cx="2480310" cy="1783080"/>
          </a:xfrm>
          <a:prstGeom prst="rect">
            <a:avLst/>
          </a:prstGeom>
          <a:solidFill>
            <a:srgbClr val="FFFFFF"/>
          </a:solidFill>
          <a:ln w="22225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04554" y="3072384"/>
            <a:ext cx="2187702" cy="1164945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  <a:spcBef>
                <a:spcPts val="600"/>
              </a:spcBef>
            </a:pPr>
            <a:r>
              <a:rPr sz="1250" b="1" i="0" lang="ar-EG">
                <a:solidFill>
                  <a:srgbClr val="10283F"/>
                </a:solidFill>
                <a:latin typeface="Cairo"/>
                <a:cs typeface="Cairo"/>
              </a:rPr>
              <a:t>السجل والبصمة</a:t>
            </a:r>
          </a:p>
          <a:p>
            <a:pPr algn="r" rtl="1">
              <a:lnSpc>
                <a:spcPct val="122000"/>
              </a:lnSpc>
              <a:spcBef>
                <a:spcPts val="300"/>
              </a:spcBef>
            </a:pPr>
            <a:r>
              <a:rPr sz="1000" b="0" i="0" lang="ar-EG">
                <a:solidFill>
                  <a:srgbClr val="10283F"/>
                </a:solidFill>
                <a:latin typeface="Cairo"/>
                <a:cs typeface="Cairo"/>
              </a:rPr>
              <a:t>إدخال الرقم القومي ومطابقته بالسجل المعتمد واستدعاء البصمة المرجعية المشفرة.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99648" y="2688336"/>
            <a:ext cx="292608" cy="292608"/>
          </a:xfrm>
          <a:prstGeom prst="rect">
            <a:avLst/>
          </a:prstGeom>
          <a:solidFill>
            <a:srgbClr val="FF4453"/>
          </a:solidFill>
          <a:ln w="15875">
            <a:solidFill>
              <a:srgbClr val="10283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1100" b="1" i="0" lang="en-US">
                <a:solidFill>
                  <a:srgbClr val="FFFFFF"/>
                </a:solidFill>
                <a:latin typeface="Courier New"/>
                <a:cs typeface="Courier New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65436" y="2715768"/>
            <a:ext cx="842772" cy="22860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FFFFFF"/>
                </a:solidFill>
                <a:latin typeface="Cairo"/>
                <a:cs typeface="Cairo"/>
              </a:rPr>
              <a:t>تحقق الهوية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59068" y="2606039"/>
            <a:ext cx="2480310" cy="1783080"/>
          </a:xfrm>
          <a:prstGeom prst="rect">
            <a:avLst/>
          </a:prstGeom>
          <a:solidFill>
            <a:srgbClr val="58D5CC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5060" y="2542032"/>
            <a:ext cx="2480310" cy="1783080"/>
          </a:xfrm>
          <a:prstGeom prst="rect">
            <a:avLst/>
          </a:prstGeom>
          <a:solidFill>
            <a:srgbClr val="F0FDFC"/>
          </a:solidFill>
          <a:ln w="22225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41364" y="3072384"/>
            <a:ext cx="2187702" cy="1164945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  <a:spcBef>
                <a:spcPts val="600"/>
              </a:spcBef>
            </a:pPr>
            <a:r>
              <a:rPr sz="1250" b="1" i="0" lang="ar-EG">
                <a:solidFill>
                  <a:srgbClr val="10283F"/>
                </a:solidFill>
                <a:latin typeface="Cairo"/>
                <a:cs typeface="Cairo"/>
              </a:rPr>
              <a:t>كشف الحياة المباشر</a:t>
            </a:r>
          </a:p>
          <a:p>
            <a:pPr algn="r" rtl="1">
              <a:lnSpc>
                <a:spcPct val="122000"/>
              </a:lnSpc>
              <a:spcBef>
                <a:spcPts val="300"/>
              </a:spcBef>
            </a:pPr>
            <a:r>
              <a:rPr sz="1000" b="0" i="0" lang="ar-EG">
                <a:solidFill>
                  <a:srgbClr val="10283F"/>
                </a:solidFill>
                <a:latin typeface="Cairo"/>
                <a:cs typeface="Cairo"/>
              </a:rPr>
              <a:t>التقاط الوجه بالكاميرا واستخراج البصمة العصبية (⁦128-D⁩) وإتمام تحديات الحركة الحية.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36458" y="2688336"/>
            <a:ext cx="292608" cy="292608"/>
          </a:xfrm>
          <a:prstGeom prst="rect">
            <a:avLst/>
          </a:prstGeom>
          <a:solidFill>
            <a:srgbClr val="FF4453"/>
          </a:solidFill>
          <a:ln w="15875">
            <a:solidFill>
              <a:srgbClr val="10283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1100" b="1" i="0" lang="en-US">
                <a:solidFill>
                  <a:srgbClr val="FFFFFF"/>
                </a:solidFill>
                <a:latin typeface="Courier New"/>
                <a:cs typeface="Courier New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35546" y="2715768"/>
            <a:ext cx="1109472" cy="22860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FFFFFF"/>
                </a:solidFill>
                <a:latin typeface="Cairo"/>
                <a:cs typeface="Cairo"/>
              </a:rPr>
              <a:t>الذكاء الاصطناعي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95877" y="2606039"/>
            <a:ext cx="2480310" cy="1783080"/>
          </a:xfrm>
          <a:prstGeom prst="rect">
            <a:avLst/>
          </a:prstGeom>
          <a:solidFill>
            <a:srgbClr val="E6BD5D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31869" y="2542032"/>
            <a:ext cx="2480310" cy="1783080"/>
          </a:xfrm>
          <a:prstGeom prst="rect">
            <a:avLst/>
          </a:prstGeom>
          <a:solidFill>
            <a:srgbClr val="FFFDF2"/>
          </a:solidFill>
          <a:ln w="22225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78173" y="3072384"/>
            <a:ext cx="2187702" cy="1164945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  <a:spcBef>
                <a:spcPts val="600"/>
              </a:spcBef>
            </a:pPr>
            <a:r>
              <a:rPr sz="1250" b="1" i="0" lang="ar-EG">
                <a:solidFill>
                  <a:srgbClr val="10283F"/>
                </a:solidFill>
                <a:latin typeface="Cairo"/>
                <a:cs typeface="Cairo"/>
              </a:rPr>
              <a:t>الرمز الأعمى (⁦HMAC⁩)</a:t>
            </a:r>
          </a:p>
          <a:p>
            <a:pPr algn="r" rtl="1">
              <a:lnSpc>
                <a:spcPct val="122000"/>
              </a:lnSpc>
              <a:spcBef>
                <a:spcPts val="300"/>
              </a:spcBef>
            </a:pPr>
            <a:r>
              <a:rPr sz="1000" b="0" i="0" lang="ar-EG">
                <a:solidFill>
                  <a:srgbClr val="10283F"/>
                </a:solidFill>
                <a:latin typeface="Cairo"/>
                <a:cs typeface="Cairo"/>
              </a:rPr>
              <a:t>وسم الناخب كـ "صوّت"، وإصدار رمز اقتراع معزول تماماً، ومسح الجلسة فوراً (⁦Zero-Link⁩).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3267" y="2688336"/>
            <a:ext cx="292608" cy="292608"/>
          </a:xfrm>
          <a:prstGeom prst="rect">
            <a:avLst/>
          </a:prstGeom>
          <a:solidFill>
            <a:srgbClr val="FF4453"/>
          </a:solidFill>
          <a:ln w="15875">
            <a:solidFill>
              <a:srgbClr val="10283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1100" b="1" i="0" lang="en-US">
                <a:solidFill>
                  <a:srgbClr val="FFFFFF"/>
                </a:solidFill>
                <a:latin typeface="Courier New"/>
                <a:cs typeface="Courier New"/>
              </a:rP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85715" y="2715768"/>
            <a:ext cx="896112" cy="22860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FFFFFF"/>
                </a:solidFill>
                <a:latin typeface="Cairo"/>
                <a:cs typeface="Cairo"/>
              </a:rPr>
              <a:t>العزل والقطع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2687" y="2606039"/>
            <a:ext cx="2480310" cy="1783080"/>
          </a:xfrm>
          <a:prstGeom prst="rect">
            <a:avLst/>
          </a:prstGeom>
          <a:solidFill>
            <a:srgbClr val="43BF86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68679" y="2542032"/>
            <a:ext cx="2480310" cy="1783080"/>
          </a:xfrm>
          <a:prstGeom prst="rect">
            <a:avLst/>
          </a:prstGeom>
          <a:solidFill>
            <a:srgbClr val="F0FBF5"/>
          </a:solidFill>
          <a:ln w="22225">
            <a:solidFill>
              <a:srgbClr val="43BF86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14983" y="3072384"/>
            <a:ext cx="2187702" cy="1164945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  <a:spcBef>
                <a:spcPts val="600"/>
              </a:spcBef>
            </a:pPr>
            <a:r>
              <a:rPr sz="1250" b="1" i="0" lang="ar-EG">
                <a:solidFill>
                  <a:srgbClr val="10283F"/>
                </a:solidFill>
                <a:latin typeface="Cairo"/>
                <a:cs typeface="Cairo"/>
              </a:rPr>
              <a:t>إيداع مجهول ⁦100%⁩</a:t>
            </a:r>
          </a:p>
          <a:p>
            <a:pPr algn="r" rtl="1">
              <a:lnSpc>
                <a:spcPct val="122000"/>
              </a:lnSpc>
              <a:spcBef>
                <a:spcPts val="300"/>
              </a:spcBef>
            </a:pPr>
            <a:r>
              <a:rPr sz="1000" b="0" i="0" lang="ar-EG">
                <a:solidFill>
                  <a:srgbClr val="10283F"/>
                </a:solidFill>
                <a:latin typeface="Cairo"/>
                <a:cs typeface="Cairo"/>
              </a:rPr>
              <a:t>إيداع ورقة الاقتراع في الصندوق المشفر بدون هوية، وإصدار إيصال تحقق مشفر للناخب.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10077" y="2688336"/>
            <a:ext cx="292608" cy="292608"/>
          </a:xfrm>
          <a:prstGeom prst="rect">
            <a:avLst/>
          </a:prstGeom>
          <a:solidFill>
            <a:srgbClr val="FF4453"/>
          </a:solidFill>
          <a:ln w="15875">
            <a:solidFill>
              <a:srgbClr val="10283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1100" b="1" i="0" lang="en-US">
                <a:solidFill>
                  <a:srgbClr val="FFFFFF"/>
                </a:solidFill>
                <a:latin typeface="Courier New"/>
                <a:cs typeface="Courier New"/>
              </a:rPr>
              <a:t>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09165" y="2715768"/>
            <a:ext cx="1109472" cy="22860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FFFFFF"/>
                </a:solidFill>
                <a:latin typeface="Cairo"/>
                <a:cs typeface="Cairo"/>
              </a:rPr>
              <a:t>الصندوق والإيصال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32688" y="4617720"/>
            <a:ext cx="10469880" cy="1280160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68680" y="4553712"/>
            <a:ext cx="10469880" cy="1280160"/>
          </a:xfrm>
          <a:prstGeom prst="rect">
            <a:avLst/>
          </a:prstGeom>
          <a:solidFill>
            <a:srgbClr val="0C2237"/>
          </a:solidFill>
          <a:ln w="25400">
            <a:solidFill>
              <a:srgbClr val="10283F"/>
            </a:solidFill>
          </a:ln>
        </p:spPr>
        <p:txBody>
          <a:bodyPr rtlCol="0" anchor="ctr" wrap="square" lIns="182880" tIns="73152" rIns="182880" bIns="73152">
            <a:noAutofit/>
          </a:bodyPr>
          <a:lstStyle/>
          <a:p>
            <a:pPr algn="l" rtl="0">
              <a:lnSpc>
                <a:spcPct val="130000"/>
              </a:lnSpc>
            </a:pPr>
            <a:r>
              <a:rPr sz="1000" b="0" i="0" lang="ar-EG">
                <a:solidFill>
                  <a:srgbClr val="94A3B8"/>
                </a:solidFill>
                <a:latin typeface="Cairo"/>
                <a:cs typeface="Cairo"/>
              </a:rPr>
              <a:t>// معمارية الأمان: حتى لو سُرقت قاعدة البيانات بالكامل</a:t>
            </a:r>
          </a:p>
          <a:p>
            <a:pPr algn="l" rtl="0">
              <a:lnSpc>
                <a:spcPct val="130000"/>
              </a:lnSpc>
            </a:pPr>
            <a:r>
              <a:rPr sz="1000" b="0" i="0" lang="en-US">
                <a:solidFill>
                  <a:srgbClr val="FF8E9B"/>
                </a:solidFill>
                <a:latin typeface="Courier New"/>
                <a:cs typeface="Courier New"/>
              </a:rPr>
              <a:t>Voter_Registry</a:t>
            </a:r>
            <a:r>
              <a:rPr sz="1000" b="0" i="0" lang="en-US">
                <a:solidFill>
                  <a:srgbClr val="7EF5DB"/>
                </a:solidFill>
                <a:latin typeface="Courier New"/>
                <a:cs typeface="Courier New"/>
              </a:rPr>
              <a:t> [NID, Biometric_Hash, Has_Voted: TRUE]   </a:t>
            </a:r>
            <a:r>
              <a:rPr sz="1000" b="0" i="0" lang="ar-EG">
                <a:solidFill>
                  <a:srgbClr val="94A3B8"/>
                </a:solidFill>
                <a:latin typeface="Cairo"/>
                <a:cs typeface="Cairo"/>
              </a:rPr>
              <a:t>&lt;-- معزول تماماً وبدون أي معرف للصوت</a:t>
            </a:r>
          </a:p>
          <a:p>
            <a:pPr algn="l" rtl="0">
              <a:lnSpc>
                <a:spcPct val="130000"/>
              </a:lnSpc>
            </a:pPr>
            <a:r>
              <a:rPr sz="1000" b="0" i="0" lang="en-US">
                <a:solidFill>
                  <a:srgbClr val="FFD666"/>
                </a:solidFill>
                <a:latin typeface="Courier New"/>
                <a:cs typeface="Courier New"/>
              </a:rPr>
              <a:t>   || [ ZERO-LINK DE-COUPLING / HMAC BLIND SIGNATURE ] ||</a:t>
            </a:r>
          </a:p>
          <a:p>
            <a:pPr algn="l" rtl="0">
              <a:lnSpc>
                <a:spcPct val="130000"/>
              </a:lnSpc>
            </a:pPr>
            <a:r>
              <a:rPr sz="1000" b="0" i="0" lang="en-US">
                <a:solidFill>
                  <a:srgbClr val="FF8E9B"/>
                </a:solidFill>
                <a:latin typeface="Courier New"/>
                <a:cs typeface="Courier New"/>
              </a:rPr>
              <a:t>Ballot_Box</a:t>
            </a:r>
            <a:r>
              <a:rPr sz="1000" b="0" i="0" lang="en-US">
                <a:solidFill>
                  <a:srgbClr val="7EF5DB"/>
                </a:solidFill>
                <a:latin typeface="Courier New"/>
                <a:cs typeface="Courier New"/>
              </a:rPr>
              <a:t>     [Ballot_ID, Candidate_ID, Encrypted_Receipt, Timestamp] </a:t>
            </a:r>
            <a:r>
              <a:rPr sz="1000" b="0" i="0" lang="ar-EG">
                <a:solidFill>
                  <a:srgbClr val="94A3B8"/>
                </a:solidFill>
                <a:latin typeface="Cairo"/>
                <a:cs typeface="Cairo"/>
              </a:rPr>
              <a:t>&lt;-- مجهول وبدون أي NID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68680" y="5961888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40" name="Rectangle 39"/>
          <p:cNvSpPr/>
          <p:nvPr/>
        </p:nvSpPr>
        <p:spPr>
          <a:xfrm>
            <a:off x="4023360" y="60350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المعمارية: </a:t>
            </a:r>
            <a:r>
              <a:rPr sz="850" b="1" i="0" lang="en-US">
                <a:solidFill>
                  <a:srgbClr val="0C2237"/>
                </a:solidFill>
                <a:latin typeface="Courier New"/>
                <a:cs typeface="Courier New"/>
              </a:rPr>
              <a:t>⁦Zero-Link Token De-coupling⁩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8680" y="6035040"/>
            <a:ext cx="315468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l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الشريحة </a:t>
            </a:r>
            <a:r>
              <a:rPr sz="850" b="1" i="0" lang="ar-EG">
                <a:solidFill>
                  <a:srgbClr val="0C2237"/>
                </a:solidFill>
                <a:latin typeface="Cairo"/>
                <a:cs typeface="Cairo"/>
              </a:rPr>
              <a:t>⁦04⁩ من ⁦12⁩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7784" y="484632"/>
            <a:ext cx="11430000" cy="6217920"/>
          </a:xfrm>
          <a:prstGeom prst="rect">
            <a:avLst/>
          </a:prstGeom>
          <a:solidFill>
            <a:srgbClr val="58D5CC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9204" y="425196"/>
            <a:ext cx="11430000" cy="62179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310896"/>
            <a:ext cx="11430000" cy="6217920"/>
          </a:xfrm>
          <a:prstGeom prst="rect">
            <a:avLst/>
          </a:prstGeom>
          <a:solidFill>
            <a:srgbClr val="FBF9F1"/>
          </a:solidFill>
          <a:ln w="38100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438912"/>
            <a:ext cx="11173968" cy="5961888"/>
          </a:xfrm>
          <a:prstGeom prst="rect">
            <a:avLst/>
          </a:prstGeom>
          <a:noFill/>
          <a:ln w="12700">
            <a:solidFill>
              <a:srgbClr val="C3C7CA"/>
            </a:solidFill>
            <a:prstDash val="dash"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10312"/>
            <a:ext cx="2124456" cy="2743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173736"/>
            <a:ext cx="2124456" cy="274320"/>
          </a:xfrm>
          <a:prstGeom prst="rect">
            <a:avLst/>
          </a:prstGeom>
          <a:solidFill>
            <a:srgbClr val="FF4453"/>
          </a:solidFill>
          <a:ln w="19050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50" b="1" i="0" lang="en-US">
                <a:solidFill>
                  <a:srgbClr val="FFFFFF"/>
                </a:solidFill>
                <a:latin typeface="Courier New"/>
                <a:cs typeface="Courier New"/>
              </a:rPr>
              <a:t>SLIDE 05 // NATIONAL ID CARD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566928"/>
            <a:ext cx="2773679" cy="256032"/>
          </a:xfrm>
          <a:prstGeom prst="rect">
            <a:avLst/>
          </a:prstGeom>
          <a:solidFill>
            <a:srgbClr val="ECEEEF"/>
          </a:solidFill>
          <a:ln w="9525">
            <a:solidFill>
              <a:srgbClr val="B8C0C6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00" b="1" i="0" lang="en-US">
                <a:solidFill>
                  <a:srgbClr val="10283F"/>
                </a:solidFill>
                <a:latin typeface="Courier New"/>
                <a:cs typeface="Courier New"/>
              </a:rPr>
              <a:t>EGYPTIAN ID CARD // SAMPLE 31005292501518</a:t>
            </a:r>
          </a:p>
        </p:txBody>
      </p:sp>
      <p:sp>
        <p:nvSpPr>
          <p:cNvPr id="9" name="Oval 8"/>
          <p:cNvSpPr/>
          <p:nvPr/>
        </p:nvSpPr>
        <p:spPr>
          <a:xfrm>
            <a:off x="11219688" y="640080"/>
            <a:ext cx="118872" cy="118872"/>
          </a:xfrm>
          <a:prstGeom prst="ellipse">
            <a:avLst/>
          </a:prstGeom>
          <a:solidFill>
            <a:srgbClr val="E6BD5D"/>
          </a:solidFill>
          <a:ln w="15240">
            <a:solidFill>
              <a:srgbClr val="10283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25239" y="530352"/>
            <a:ext cx="7275576" cy="32918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1050" b="1" i="0" lang="ar-EG">
                <a:solidFill>
                  <a:srgbClr val="10283F"/>
                </a:solidFill>
                <a:latin typeface="Cairo"/>
                <a:cs typeface="Cairo"/>
              </a:rPr>
              <a:t>شكل البطاقة الشخصية المعتمد في المنظومة (⁦ID Card Design⁩)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950976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12" name="Rectangle 11"/>
          <p:cNvSpPr/>
          <p:nvPr/>
        </p:nvSpPr>
        <p:spPr>
          <a:xfrm>
            <a:off x="10607040" y="1042415"/>
            <a:ext cx="731520" cy="256032"/>
          </a:xfrm>
          <a:prstGeom prst="rect">
            <a:avLst/>
          </a:prstGeom>
          <a:solidFill>
            <a:srgbClr val="0C2237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DOCUMENT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19160" y="1042415"/>
            <a:ext cx="2087880" cy="256032"/>
          </a:xfrm>
          <a:prstGeom prst="rect">
            <a:avLst/>
          </a:prstGeom>
          <a:solidFill>
            <a:srgbClr val="E6BD5D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0C2237"/>
                </a:solidFill>
                <a:latin typeface="Cairo"/>
                <a:cs typeface="Cairo"/>
              </a:rPr>
              <a:t>بطاقة تحقيق الشخصية — نموذج تجريبي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59039" y="1042415"/>
            <a:ext cx="960119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4453"/>
                </a:solidFill>
                <a:latin typeface="Courier New"/>
                <a:cs typeface="Courier New"/>
              </a:rPr>
              <a:t>READ &amp; 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1371600"/>
            <a:ext cx="10469880" cy="566928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08000"/>
              </a:lnSpc>
            </a:pPr>
            <a:r>
              <a:rPr sz="2600" b="1" i="0" lang="ar-EG">
                <a:solidFill>
                  <a:srgbClr val="10283F"/>
                </a:solidFill>
                <a:latin typeface="Cairo"/>
                <a:cs typeface="Cairo"/>
              </a:rPr>
              <a:t>شكل البطاقة الشخصية: </a:t>
            </a:r>
            <a:r>
              <a:rPr sz="2600" b="1" i="0" lang="ar-EG">
                <a:solidFill>
                  <a:srgbClr val="FF4453"/>
                </a:solidFill>
                <a:latin typeface="Cairo"/>
                <a:cs typeface="Cairo"/>
              </a:rPr>
              <a:t>كيف تُقرأ بيانات المواطن وصورته؟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1920240"/>
            <a:ext cx="10469880" cy="45720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25000"/>
              </a:lnSpc>
            </a:pPr>
            <a:r>
              <a:rPr sz="1150" b="0" i="0" lang="ar-EG">
                <a:solidFill>
                  <a:srgbClr val="2B3E50"/>
                </a:solidFill>
                <a:latin typeface="Cairo"/>
                <a:cs typeface="Cairo"/>
              </a:rPr>
              <a:t>بطاقة تجريبية مُولّدة بأداة البطاقات في المشروع لـ</a:t>
            </a:r>
            <a:r>
              <a:rPr sz="1150" b="1" i="0" lang="ar-EG">
                <a:solidFill>
                  <a:srgbClr val="2B3E50"/>
                </a:solidFill>
                <a:latin typeface="Cairo"/>
                <a:cs typeface="Cairo"/>
              </a:rPr>
              <a:t>علي أحمد علي محمد</a:t>
            </a:r>
            <a:r>
              <a:rPr sz="1150" b="0" i="0" lang="ar-EG">
                <a:solidFill>
                  <a:srgbClr val="2B3E50"/>
                </a:solidFill>
                <a:latin typeface="Cairo"/>
                <a:cs typeface="Cairo"/>
              </a:rPr>
              <a:t>، تحمل الحقول التي تعتمد عليها المنظومة: الصورة لمطابقة الوجه، والاسم والرقم القومي للقراءة والمقارنة.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79208" y="2532888"/>
            <a:ext cx="4023360" cy="2536466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pic>
        <p:nvPicPr>
          <p:cNvPr id="18" name="Picture 17" descr="310052925015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468880"/>
            <a:ext cx="4023360" cy="253646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7315200" y="2468880"/>
            <a:ext cx="4023360" cy="2536466"/>
          </a:xfrm>
          <a:prstGeom prst="rect">
            <a:avLst/>
          </a:prstGeom>
          <a:noFill/>
          <a:ln w="25400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22952" y="2842392"/>
            <a:ext cx="246888" cy="246888"/>
          </a:xfrm>
          <a:prstGeom prst="ellipse">
            <a:avLst/>
          </a:prstGeom>
          <a:solidFill>
            <a:srgbClr val="FF4453"/>
          </a:solidFill>
          <a:ln w="19050">
            <a:solidFill>
              <a:srgbClr val="FFFFF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950" b="1" i="0" lang="en-US">
                <a:solidFill>
                  <a:srgbClr val="FFFFFF"/>
                </a:solidFill>
                <a:latin typeface="Courier New"/>
                <a:cs typeface="Courier New"/>
              </a:rPr>
              <a:t>1</a:t>
            </a:r>
          </a:p>
        </p:txBody>
      </p:sp>
      <p:sp>
        <p:nvSpPr>
          <p:cNvPr id="21" name="Oval 20"/>
          <p:cNvSpPr/>
          <p:nvPr/>
        </p:nvSpPr>
        <p:spPr>
          <a:xfrm>
            <a:off x="10113860" y="2941783"/>
            <a:ext cx="246888" cy="246888"/>
          </a:xfrm>
          <a:prstGeom prst="ellipse">
            <a:avLst/>
          </a:prstGeom>
          <a:solidFill>
            <a:srgbClr val="FF4453"/>
          </a:solidFill>
          <a:ln w="19050">
            <a:solidFill>
              <a:srgbClr val="FFFFF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950" b="1" i="0" lang="en-US">
                <a:solidFill>
                  <a:srgbClr val="FFFFFF"/>
                </a:solidFill>
                <a:latin typeface="Courier New"/>
                <a:cs typeface="Courier New"/>
              </a:rPr>
              <a:t>2</a:t>
            </a:r>
          </a:p>
        </p:txBody>
      </p:sp>
      <p:sp>
        <p:nvSpPr>
          <p:cNvPr id="22" name="Oval 21"/>
          <p:cNvSpPr/>
          <p:nvPr/>
        </p:nvSpPr>
        <p:spPr>
          <a:xfrm>
            <a:off x="9179582" y="3387056"/>
            <a:ext cx="246888" cy="246888"/>
          </a:xfrm>
          <a:prstGeom prst="ellipse">
            <a:avLst/>
          </a:prstGeom>
          <a:solidFill>
            <a:srgbClr val="FF4453"/>
          </a:solidFill>
          <a:ln w="19050">
            <a:solidFill>
              <a:srgbClr val="FFFFF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950" b="1" i="0" lang="en-US">
                <a:solidFill>
                  <a:srgbClr val="FFFFFF"/>
                </a:solidFill>
                <a:latin typeface="Courier New"/>
                <a:cs typeface="Courier New"/>
              </a:rPr>
              <a:t>3</a:t>
            </a:r>
          </a:p>
        </p:txBody>
      </p:sp>
      <p:sp>
        <p:nvSpPr>
          <p:cNvPr id="23" name="Oval 22"/>
          <p:cNvSpPr/>
          <p:nvPr/>
        </p:nvSpPr>
        <p:spPr>
          <a:xfrm>
            <a:off x="9259095" y="3808476"/>
            <a:ext cx="246888" cy="246888"/>
          </a:xfrm>
          <a:prstGeom prst="ellipse">
            <a:avLst/>
          </a:prstGeom>
          <a:solidFill>
            <a:srgbClr val="FF4453"/>
          </a:solidFill>
          <a:ln w="19050">
            <a:solidFill>
              <a:srgbClr val="FFFFF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950" b="1" i="0" lang="en-US">
                <a:solidFill>
                  <a:srgbClr val="FFFFFF"/>
                </a:solidFill>
                <a:latin typeface="Courier New"/>
                <a:cs typeface="Courier New"/>
              </a:rPr>
              <a:t>4</a:t>
            </a:r>
          </a:p>
        </p:txBody>
      </p:sp>
      <p:sp>
        <p:nvSpPr>
          <p:cNvPr id="24" name="Oval 23"/>
          <p:cNvSpPr/>
          <p:nvPr/>
        </p:nvSpPr>
        <p:spPr>
          <a:xfrm>
            <a:off x="8742260" y="3975453"/>
            <a:ext cx="246888" cy="246888"/>
          </a:xfrm>
          <a:prstGeom prst="ellipse">
            <a:avLst/>
          </a:prstGeom>
          <a:solidFill>
            <a:srgbClr val="FF4453"/>
          </a:solidFill>
          <a:ln w="19050">
            <a:solidFill>
              <a:srgbClr val="FFFFF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950" b="1" i="0" lang="en-US">
                <a:solidFill>
                  <a:srgbClr val="FFFFFF"/>
                </a:solidFill>
                <a:latin typeface="Courier New"/>
                <a:cs typeface="Courier New"/>
              </a:rPr>
              <a:t>5</a:t>
            </a:r>
          </a:p>
        </p:txBody>
      </p:sp>
      <p:sp>
        <p:nvSpPr>
          <p:cNvPr id="25" name="Oval 24"/>
          <p:cNvSpPr/>
          <p:nvPr/>
        </p:nvSpPr>
        <p:spPr>
          <a:xfrm>
            <a:off x="7478002" y="4595655"/>
            <a:ext cx="246888" cy="246888"/>
          </a:xfrm>
          <a:prstGeom prst="ellipse">
            <a:avLst/>
          </a:prstGeom>
          <a:solidFill>
            <a:srgbClr val="FF4453"/>
          </a:solidFill>
          <a:ln w="19050">
            <a:solidFill>
              <a:srgbClr val="FFFFF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950" b="1" i="0" lang="en-US">
                <a:solidFill>
                  <a:srgbClr val="FFFFFF"/>
                </a:solidFill>
                <a:latin typeface="Courier New"/>
                <a:cs typeface="Courier New"/>
              </a:rPr>
              <a:t>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6" y="2505456"/>
            <a:ext cx="6153912" cy="402336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68680" y="2468880"/>
            <a:ext cx="6153912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48272" y="2560320"/>
            <a:ext cx="219456" cy="219456"/>
          </a:xfrm>
          <a:prstGeom prst="ellipse">
            <a:avLst/>
          </a:prstGeom>
          <a:solidFill>
            <a:srgbClr val="FF4453"/>
          </a:solidFill>
          <a:ln w="12700">
            <a:solidFill>
              <a:srgbClr val="10283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900" b="1" i="0" lang="en-US">
                <a:solidFill>
                  <a:srgbClr val="FFFFFF"/>
                </a:solidFill>
                <a:latin typeface="Courier New"/>
                <a:cs typeface="Courier New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" y="2487168"/>
            <a:ext cx="5696712" cy="36576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12000"/>
              </a:lnSpc>
            </a:pPr>
            <a:r>
              <a:rPr sz="950" b="1" i="0" lang="ar-EG">
                <a:solidFill>
                  <a:srgbClr val="0C2237"/>
                </a:solidFill>
                <a:latin typeface="Cairo"/>
                <a:cs typeface="Cairo"/>
              </a:rPr>
              <a:t>الصورة الشخصية — </a:t>
            </a:r>
            <a:r>
              <a:rPr sz="950" b="0" i="0" lang="ar-EG">
                <a:solidFill>
                  <a:srgbClr val="10283F"/>
                </a:solidFill>
                <a:latin typeface="Cairo"/>
                <a:cs typeface="Cairo"/>
              </a:rPr>
              <a:t>تُستخرج منها بصمة الوجه العصبية (⁦128-D⁩)، وتُقارَن بسيلفي الناخب الحي لاعتماد الهوية.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5256" y="2953512"/>
            <a:ext cx="6153912" cy="402336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68680" y="2916936"/>
            <a:ext cx="6153912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48272" y="3008376"/>
            <a:ext cx="219456" cy="219456"/>
          </a:xfrm>
          <a:prstGeom prst="ellipse">
            <a:avLst/>
          </a:prstGeom>
          <a:solidFill>
            <a:srgbClr val="FF4453"/>
          </a:solidFill>
          <a:ln w="12700">
            <a:solidFill>
              <a:srgbClr val="10283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900" b="1" i="0" lang="en-US">
                <a:solidFill>
                  <a:srgbClr val="FFFFFF"/>
                </a:solidFill>
                <a:latin typeface="Courier New"/>
                <a:cs typeface="Courier New"/>
              </a:rPr>
              <a:t>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" y="2935224"/>
            <a:ext cx="5696712" cy="36576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12000"/>
              </a:lnSpc>
            </a:pPr>
            <a:r>
              <a:rPr sz="950" b="1" i="0" lang="ar-EG">
                <a:solidFill>
                  <a:srgbClr val="0C2237"/>
                </a:solidFill>
                <a:latin typeface="Cairo"/>
                <a:cs typeface="Cairo"/>
              </a:rPr>
              <a:t>الاسم — </a:t>
            </a:r>
            <a:r>
              <a:rPr sz="950" b="0" i="0" lang="ar-EG">
                <a:solidFill>
                  <a:srgbClr val="10283F"/>
                </a:solidFill>
                <a:latin typeface="Cairo"/>
                <a:cs typeface="Cairo"/>
              </a:rPr>
              <a:t>يُطبَّع الاسم العربي (أ/إ/آ ← ا، ى ← ي، ة ← ه) ثم يُطابَق مع الاسم المُدخَل في التسجيل.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5256" y="3401568"/>
            <a:ext cx="6153912" cy="402336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8680" y="3364992"/>
            <a:ext cx="6153912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748272" y="3456432"/>
            <a:ext cx="219456" cy="219456"/>
          </a:xfrm>
          <a:prstGeom prst="ellipse">
            <a:avLst/>
          </a:prstGeom>
          <a:solidFill>
            <a:srgbClr val="FF4453"/>
          </a:solidFill>
          <a:ln w="12700">
            <a:solidFill>
              <a:srgbClr val="10283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900" b="1" i="0" lang="en-US">
                <a:solidFill>
                  <a:srgbClr val="FFFFFF"/>
                </a:solidFill>
                <a:latin typeface="Courier New"/>
                <a:cs typeface="Courier New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0120" y="3383280"/>
            <a:ext cx="5696712" cy="36576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12000"/>
              </a:lnSpc>
            </a:pPr>
            <a:r>
              <a:rPr sz="950" b="1" i="0" lang="ar-EG">
                <a:solidFill>
                  <a:srgbClr val="0C2237"/>
                </a:solidFill>
                <a:latin typeface="Cairo"/>
                <a:cs typeface="Cairo"/>
              </a:rPr>
              <a:t>العنوان والمحافظة — </a:t>
            </a:r>
            <a:r>
              <a:rPr sz="950" b="0" i="0" lang="ar-EG">
                <a:solidFill>
                  <a:srgbClr val="10283F"/>
                </a:solidFill>
                <a:latin typeface="Cairo"/>
                <a:cs typeface="Cairo"/>
              </a:rPr>
              <a:t>المحافظة تُستخرج من كود الرقم القومي (الخانتان ⁦8⁩–⁦9⁩) وتُطابَق مع بيانات الناخب.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5256" y="3849624"/>
            <a:ext cx="6153912" cy="402336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8680" y="3813048"/>
            <a:ext cx="6153912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748272" y="3904487"/>
            <a:ext cx="219456" cy="219456"/>
          </a:xfrm>
          <a:prstGeom prst="ellipse">
            <a:avLst/>
          </a:prstGeom>
          <a:solidFill>
            <a:srgbClr val="FF4453"/>
          </a:solidFill>
          <a:ln w="12700">
            <a:solidFill>
              <a:srgbClr val="10283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900" b="1" i="0" lang="en-US">
                <a:solidFill>
                  <a:srgbClr val="FFFFFF"/>
                </a:solidFill>
                <a:latin typeface="Courier New"/>
                <a:cs typeface="Courier New"/>
              </a:rPr>
              <a:t>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0120" y="3831335"/>
            <a:ext cx="5696712" cy="36576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12000"/>
              </a:lnSpc>
            </a:pPr>
            <a:r>
              <a:rPr sz="950" b="1" i="0" lang="ar-EG">
                <a:solidFill>
                  <a:srgbClr val="0C2237"/>
                </a:solidFill>
                <a:latin typeface="Cairo"/>
                <a:cs typeface="Cairo"/>
              </a:rPr>
              <a:t>النوع ومحل الميلاد — </a:t>
            </a:r>
            <a:r>
              <a:rPr sz="950" b="0" i="0" lang="ar-EG">
                <a:solidFill>
                  <a:srgbClr val="10283F"/>
                </a:solidFill>
                <a:latin typeface="Cairo"/>
                <a:cs typeface="Cairo"/>
              </a:rPr>
              <a:t>النوع يُستنتج من الخانة ⁦13⁩ (الفردي = ذكر، والزوجي = أنثى).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5256" y="4297680"/>
            <a:ext cx="6153912" cy="402336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68680" y="4261104"/>
            <a:ext cx="6153912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748272" y="4352544"/>
            <a:ext cx="219456" cy="219456"/>
          </a:xfrm>
          <a:prstGeom prst="ellipse">
            <a:avLst/>
          </a:prstGeom>
          <a:solidFill>
            <a:srgbClr val="FF4453"/>
          </a:solidFill>
          <a:ln w="12700">
            <a:solidFill>
              <a:srgbClr val="10283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900" b="1" i="0" lang="en-US">
                <a:solidFill>
                  <a:srgbClr val="FFFFFF"/>
                </a:solidFill>
                <a:latin typeface="Courier New"/>
                <a:cs typeface="Courier New"/>
              </a:rP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0120" y="4279392"/>
            <a:ext cx="5696712" cy="36576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12000"/>
              </a:lnSpc>
            </a:pPr>
            <a:r>
              <a:rPr sz="950" b="1" i="0" lang="ar-EG">
                <a:solidFill>
                  <a:srgbClr val="0C2237"/>
                </a:solidFill>
                <a:latin typeface="Cairo"/>
                <a:cs typeface="Cairo"/>
              </a:rPr>
              <a:t>الرقم القومي — </a:t>
            </a:r>
            <a:r>
              <a:rPr sz="950" b="0" i="0" lang="ar-EG">
                <a:solidFill>
                  <a:srgbClr val="10283F"/>
                </a:solidFill>
                <a:latin typeface="Cairo"/>
                <a:cs typeface="Cairo"/>
              </a:rPr>
              <a:t>⁦14⁩ رقمًا يقرؤها النظام آليًا من البطاقة، ولا يُحفظ منها إلا بصمة مُجزَّأة (⁦SHA-256⁩ مع ملح سري).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5256" y="4745736"/>
            <a:ext cx="6153912" cy="402336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68680" y="4709160"/>
            <a:ext cx="6153912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748272" y="4800600"/>
            <a:ext cx="219456" cy="219456"/>
          </a:xfrm>
          <a:prstGeom prst="ellipse">
            <a:avLst/>
          </a:prstGeom>
          <a:solidFill>
            <a:srgbClr val="FF4453"/>
          </a:solidFill>
          <a:ln w="12700">
            <a:solidFill>
              <a:srgbClr val="10283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900" b="1" i="0" lang="en-US">
                <a:solidFill>
                  <a:srgbClr val="FFFFFF"/>
                </a:solidFill>
                <a:latin typeface="Courier New"/>
                <a:cs typeface="Courier New"/>
              </a:rPr>
              <a:t>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0120" y="4727448"/>
            <a:ext cx="5696712" cy="36576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12000"/>
              </a:lnSpc>
            </a:pPr>
            <a:r>
              <a:rPr sz="950" b="1" i="0" lang="ar-EG">
                <a:solidFill>
                  <a:srgbClr val="0C2237"/>
                </a:solidFill>
                <a:latin typeface="Cairo"/>
                <a:cs typeface="Cairo"/>
              </a:rPr>
              <a:t>تاريخ الميلاد وبيانات الإصدار — </a:t>
            </a:r>
            <a:r>
              <a:rPr sz="950" b="0" i="0" lang="ar-EG">
                <a:solidFill>
                  <a:srgbClr val="10283F"/>
                </a:solidFill>
                <a:latin typeface="Cairo"/>
                <a:cs typeface="Cairo"/>
              </a:rPr>
              <a:t>تاريخ الميلاد يُطابَق مع الرقم القومي، ورقم المرجع ⁦ID-EG⁩ وتاريخ الإصدار يظهران أسفل البطاقة.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8680" y="5157216"/>
            <a:ext cx="10469880" cy="219456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1050" b="1" i="0" lang="ar-EG">
                <a:solidFill>
                  <a:srgbClr val="68727B"/>
                </a:solidFill>
                <a:latin typeface="Cairo"/>
                <a:cs typeface="Cairo"/>
              </a:rPr>
              <a:t>تشريح الرقم القومي (⁦14⁩ خانة): </a:t>
            </a:r>
            <a:r>
              <a:rPr sz="1050" b="1" i="0" lang="en-US">
                <a:solidFill>
                  <a:srgbClr val="0C2237"/>
                </a:solidFill>
                <a:latin typeface="Courier New"/>
                <a:cs typeface="Courier New"/>
              </a:rPr>
              <a:t>⁦31005292501518⁩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6111" y="5440680"/>
            <a:ext cx="1653540" cy="512064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68679" y="5413248"/>
            <a:ext cx="16535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0283F"/>
            </a:solidFill>
          </a:ln>
        </p:spPr>
        <p:txBody>
          <a:bodyPr rtlCol="0" anchor="ctr" wrap="square" lIns="27432" tIns="9144" rIns="27432" bIns="9144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1200" b="1" i="0" lang="en-US">
                <a:solidFill>
                  <a:srgbClr val="0C2237"/>
                </a:solidFill>
                <a:latin typeface="Courier New"/>
                <a:cs typeface="Courier New"/>
              </a:rPr>
              <a:t>3</a:t>
            </a:r>
          </a:p>
          <a:p>
            <a:pPr algn="ctr" rtl="1">
              <a:lnSpc>
                <a:spcPct val="100000"/>
              </a:lnSpc>
            </a:pPr>
            <a:r>
              <a:rPr sz="850" b="1" i="0" lang="ar-EG">
                <a:solidFill>
                  <a:srgbClr val="10283F"/>
                </a:solidFill>
                <a:latin typeface="Cairo"/>
                <a:cs typeface="Cairo"/>
              </a:rPr>
              <a:t>القرن</a:t>
            </a:r>
          </a:p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68727B"/>
                </a:solidFill>
                <a:latin typeface="Cairo"/>
                <a:cs typeface="Cairo"/>
              </a:rPr>
              <a:t>⁦2000⁩ – ⁦2099⁩ (الخانة ⁦1⁩)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59379" y="5440680"/>
            <a:ext cx="1653540" cy="512064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631947" y="5413248"/>
            <a:ext cx="1653540" cy="512064"/>
          </a:xfrm>
          <a:prstGeom prst="rect">
            <a:avLst/>
          </a:prstGeom>
          <a:solidFill>
            <a:srgbClr val="F0FDFC"/>
          </a:solidFill>
          <a:ln w="19050">
            <a:solidFill>
              <a:srgbClr val="10283F"/>
            </a:solidFill>
          </a:ln>
        </p:spPr>
        <p:txBody>
          <a:bodyPr rtlCol="0" anchor="ctr" wrap="square" lIns="27432" tIns="9144" rIns="27432" bIns="9144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1200" b="1" i="0" lang="en-US">
                <a:solidFill>
                  <a:srgbClr val="0C2237"/>
                </a:solidFill>
                <a:latin typeface="Courier New"/>
                <a:cs typeface="Courier New"/>
              </a:rPr>
              <a:t>100529</a:t>
            </a:r>
          </a:p>
          <a:p>
            <a:pPr algn="ctr" rtl="1">
              <a:lnSpc>
                <a:spcPct val="100000"/>
              </a:lnSpc>
            </a:pPr>
            <a:r>
              <a:rPr sz="850" b="1" i="0" lang="ar-EG">
                <a:solidFill>
                  <a:srgbClr val="10283F"/>
                </a:solidFill>
                <a:latin typeface="Cairo"/>
                <a:cs typeface="Cairo"/>
              </a:rPr>
              <a:t>تاريخ الميلاد</a:t>
            </a:r>
          </a:p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68727B"/>
                </a:solidFill>
                <a:latin typeface="Cairo"/>
                <a:cs typeface="Cairo"/>
              </a:rPr>
              <a:t>⁦29 / 05 / 2010⁩ (الخانات ⁦2⁩–⁦7⁩)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422647" y="5440680"/>
            <a:ext cx="1653540" cy="512064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95215" y="5413248"/>
            <a:ext cx="1653540" cy="512064"/>
          </a:xfrm>
          <a:prstGeom prst="rect">
            <a:avLst/>
          </a:prstGeom>
          <a:solidFill>
            <a:srgbClr val="FFFDF2"/>
          </a:solidFill>
          <a:ln w="19050">
            <a:solidFill>
              <a:srgbClr val="10283F"/>
            </a:solidFill>
          </a:ln>
        </p:spPr>
        <p:txBody>
          <a:bodyPr rtlCol="0" anchor="ctr" wrap="square" lIns="27432" tIns="9144" rIns="27432" bIns="9144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1200" b="1" i="0" lang="en-US">
                <a:solidFill>
                  <a:srgbClr val="0C2237"/>
                </a:solidFill>
                <a:latin typeface="Courier New"/>
                <a:cs typeface="Courier New"/>
              </a:rPr>
              <a:t>25</a:t>
            </a:r>
          </a:p>
          <a:p>
            <a:pPr algn="ctr" rtl="1">
              <a:lnSpc>
                <a:spcPct val="100000"/>
              </a:lnSpc>
            </a:pPr>
            <a:r>
              <a:rPr sz="850" b="1" i="0" lang="ar-EG">
                <a:solidFill>
                  <a:srgbClr val="10283F"/>
                </a:solidFill>
                <a:latin typeface="Cairo"/>
                <a:cs typeface="Cairo"/>
              </a:rPr>
              <a:t>كود المحافظة</a:t>
            </a:r>
          </a:p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68727B"/>
                </a:solidFill>
                <a:latin typeface="Cairo"/>
                <a:cs typeface="Cairo"/>
              </a:rPr>
              <a:t>أسيوط (الخانتان ⁦8⁩–⁦9⁩)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85916" y="5440680"/>
            <a:ext cx="1653540" cy="512064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58483" y="5413248"/>
            <a:ext cx="16535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0283F"/>
            </a:solidFill>
          </a:ln>
        </p:spPr>
        <p:txBody>
          <a:bodyPr rtlCol="0" anchor="ctr" wrap="square" lIns="27432" tIns="9144" rIns="27432" bIns="9144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1200" b="1" i="0" lang="en-US">
                <a:solidFill>
                  <a:srgbClr val="0C2237"/>
                </a:solidFill>
                <a:latin typeface="Courier New"/>
                <a:cs typeface="Courier New"/>
              </a:rPr>
              <a:t>015</a:t>
            </a:r>
          </a:p>
          <a:p>
            <a:pPr algn="ctr" rtl="1">
              <a:lnSpc>
                <a:spcPct val="100000"/>
              </a:lnSpc>
            </a:pPr>
            <a:r>
              <a:rPr sz="850" b="1" i="0" lang="ar-EG">
                <a:solidFill>
                  <a:srgbClr val="10283F"/>
                </a:solidFill>
                <a:latin typeface="Cairo"/>
                <a:cs typeface="Cairo"/>
              </a:rPr>
              <a:t>التسلسل</a:t>
            </a:r>
          </a:p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68727B"/>
                </a:solidFill>
                <a:latin typeface="Cairo"/>
                <a:cs typeface="Cairo"/>
              </a:rPr>
              <a:t>(الخانات ⁦10⁩–⁦12⁩)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49184" y="5440680"/>
            <a:ext cx="1653540" cy="512064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921752" y="5413248"/>
            <a:ext cx="1653540" cy="512064"/>
          </a:xfrm>
          <a:prstGeom prst="rect">
            <a:avLst/>
          </a:prstGeom>
          <a:solidFill>
            <a:srgbClr val="F0FBF5"/>
          </a:solidFill>
          <a:ln w="19050">
            <a:solidFill>
              <a:srgbClr val="10283F"/>
            </a:solidFill>
          </a:ln>
        </p:spPr>
        <p:txBody>
          <a:bodyPr rtlCol="0" anchor="ctr" wrap="square" lIns="27432" tIns="9144" rIns="27432" bIns="9144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1200" b="1" i="0" lang="en-US">
                <a:solidFill>
                  <a:srgbClr val="0C2237"/>
                </a:solidFill>
                <a:latin typeface="Courier New"/>
                <a:cs typeface="Courier New"/>
              </a:rPr>
              <a:t>1</a:t>
            </a:r>
          </a:p>
          <a:p>
            <a:pPr algn="ctr" rtl="1">
              <a:lnSpc>
                <a:spcPct val="100000"/>
              </a:lnSpc>
            </a:pPr>
            <a:r>
              <a:rPr sz="850" b="1" i="0" lang="ar-EG">
                <a:solidFill>
                  <a:srgbClr val="10283F"/>
                </a:solidFill>
                <a:latin typeface="Cairo"/>
                <a:cs typeface="Cairo"/>
              </a:rPr>
              <a:t>النوع</a:t>
            </a:r>
          </a:p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68727B"/>
                </a:solidFill>
                <a:latin typeface="Cairo"/>
                <a:cs typeface="Cairo"/>
              </a:rPr>
              <a:t>فردي = ذكر (الخانة ⁦13⁩)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712452" y="5440680"/>
            <a:ext cx="1653540" cy="512064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685020" y="5413248"/>
            <a:ext cx="16535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0283F"/>
            </a:solidFill>
          </a:ln>
        </p:spPr>
        <p:txBody>
          <a:bodyPr rtlCol="0" anchor="ctr" wrap="square" lIns="27432" tIns="9144" rIns="27432" bIns="9144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1200" b="1" i="0" lang="en-US">
                <a:solidFill>
                  <a:srgbClr val="0C2237"/>
                </a:solidFill>
                <a:latin typeface="Courier New"/>
                <a:cs typeface="Courier New"/>
              </a:rPr>
              <a:t>8</a:t>
            </a:r>
          </a:p>
          <a:p>
            <a:pPr algn="ctr" rtl="1">
              <a:lnSpc>
                <a:spcPct val="100000"/>
              </a:lnSpc>
            </a:pPr>
            <a:r>
              <a:rPr sz="850" b="1" i="0" lang="ar-EG">
                <a:solidFill>
                  <a:srgbClr val="10283F"/>
                </a:solidFill>
                <a:latin typeface="Cairo"/>
                <a:cs typeface="Cairo"/>
              </a:rPr>
              <a:t>رقم التحقق</a:t>
            </a:r>
          </a:p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68727B"/>
                </a:solidFill>
                <a:latin typeface="Cairo"/>
                <a:cs typeface="Cairo"/>
              </a:rPr>
              <a:t>(الخانة ⁦14⁩)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868680" y="5961888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64" name="Rectangle 63"/>
          <p:cNvSpPr/>
          <p:nvPr/>
        </p:nvSpPr>
        <p:spPr>
          <a:xfrm>
            <a:off x="4023360" y="60350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نموذج البطاقة: </a:t>
            </a:r>
            <a:r>
              <a:rPr sz="850" b="1" i="0" lang="ar-EG">
                <a:solidFill>
                  <a:srgbClr val="0C2237"/>
                </a:solidFill>
                <a:latin typeface="Cairo"/>
                <a:cs typeface="Cairo"/>
              </a:rPr>
              <a:t>علي أحمد علي محمد — بيانات تجريبية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68680" y="6035040"/>
            <a:ext cx="315468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l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الشريحة </a:t>
            </a:r>
            <a:r>
              <a:rPr sz="850" b="1" i="0" lang="ar-EG">
                <a:solidFill>
                  <a:srgbClr val="0C2237"/>
                </a:solidFill>
                <a:latin typeface="Cairo"/>
                <a:cs typeface="Cairo"/>
              </a:rPr>
              <a:t>⁦05⁩ من ⁦12⁩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7784" y="484632"/>
            <a:ext cx="11430000" cy="6217920"/>
          </a:xfrm>
          <a:prstGeom prst="rect">
            <a:avLst/>
          </a:prstGeom>
          <a:solidFill>
            <a:srgbClr val="58D5CC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9204" y="425196"/>
            <a:ext cx="11430000" cy="62179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310896"/>
            <a:ext cx="11430000" cy="6217920"/>
          </a:xfrm>
          <a:prstGeom prst="rect">
            <a:avLst/>
          </a:prstGeom>
          <a:solidFill>
            <a:srgbClr val="FBF9F1"/>
          </a:solidFill>
          <a:ln w="38100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438912"/>
            <a:ext cx="11173968" cy="5961888"/>
          </a:xfrm>
          <a:prstGeom prst="rect">
            <a:avLst/>
          </a:prstGeom>
          <a:noFill/>
          <a:ln w="12700">
            <a:solidFill>
              <a:srgbClr val="C3C7CA"/>
            </a:solidFill>
            <a:prstDash val="dash"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10312"/>
            <a:ext cx="2383536" cy="2743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173736"/>
            <a:ext cx="2383536" cy="274320"/>
          </a:xfrm>
          <a:prstGeom prst="rect">
            <a:avLst/>
          </a:prstGeom>
          <a:solidFill>
            <a:srgbClr val="FF4453"/>
          </a:solidFill>
          <a:ln w="19050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50" b="1" i="0" lang="en-US">
                <a:solidFill>
                  <a:srgbClr val="FFFFFF"/>
                </a:solidFill>
                <a:latin typeface="Courier New"/>
                <a:cs typeface="Courier New"/>
              </a:rPr>
              <a:t>SLIDE 06 // AI &amp; COMPUTER VISION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566928"/>
            <a:ext cx="2956559" cy="256032"/>
          </a:xfrm>
          <a:prstGeom prst="rect">
            <a:avLst/>
          </a:prstGeom>
          <a:solidFill>
            <a:srgbClr val="ECEEEF"/>
          </a:solidFill>
          <a:ln w="9525">
            <a:solidFill>
              <a:srgbClr val="B8C0C6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00" b="1" i="0" lang="en-US">
                <a:solidFill>
                  <a:srgbClr val="10283F"/>
                </a:solidFill>
                <a:latin typeface="Courier New"/>
                <a:cs typeface="Courier New"/>
              </a:rPr>
              <a:t>128-D NEURAL EMBEDDINGS &amp; LIVENESS DETECTION</a:t>
            </a:r>
          </a:p>
        </p:txBody>
      </p:sp>
      <p:sp>
        <p:nvSpPr>
          <p:cNvPr id="9" name="Oval 8"/>
          <p:cNvSpPr/>
          <p:nvPr/>
        </p:nvSpPr>
        <p:spPr>
          <a:xfrm>
            <a:off x="11219688" y="640080"/>
            <a:ext cx="118872" cy="118872"/>
          </a:xfrm>
          <a:prstGeom prst="ellipse">
            <a:avLst/>
          </a:prstGeom>
          <a:solidFill>
            <a:srgbClr val="43BF86"/>
          </a:solidFill>
          <a:ln w="15240">
            <a:solidFill>
              <a:srgbClr val="10283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08119" y="530352"/>
            <a:ext cx="7092696" cy="32918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1050" b="1" i="0" lang="ar-EG">
                <a:solidFill>
                  <a:srgbClr val="10283F"/>
                </a:solidFill>
                <a:latin typeface="Cairo"/>
                <a:cs typeface="Cairo"/>
              </a:rPr>
              <a:t>العمق التقني: الذكاء الاصطناعي ورؤية الحاسوب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950976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12" name="Rectangle 11"/>
          <p:cNvSpPr/>
          <p:nvPr/>
        </p:nvSpPr>
        <p:spPr>
          <a:xfrm>
            <a:off x="10549890" y="1042415"/>
            <a:ext cx="788669" cy="256032"/>
          </a:xfrm>
          <a:prstGeom prst="rect">
            <a:avLst/>
          </a:prstGeom>
          <a:solidFill>
            <a:srgbClr val="0C2237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AI ENGINE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22030" y="1042415"/>
            <a:ext cx="1927860" cy="256032"/>
          </a:xfrm>
          <a:prstGeom prst="rect">
            <a:avLst/>
          </a:prstGeom>
          <a:solidFill>
            <a:srgbClr val="E6BD5D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0C2237"/>
                </a:solidFill>
                <a:latin typeface="Cairo"/>
                <a:cs typeface="Cairo"/>
              </a:rPr>
              <a:t>محرك البصمة العصبية وكشف الحياة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7610" y="1042415"/>
            <a:ext cx="1074420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4453"/>
                </a:solidFill>
                <a:latin typeface="Courier New"/>
                <a:cs typeface="Courier New"/>
              </a:rPr>
              <a:t>EDGE INFERENCE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1371600"/>
            <a:ext cx="10469880" cy="566928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08000"/>
              </a:lnSpc>
            </a:pPr>
            <a:r>
              <a:rPr sz="2300" b="1" i="0" lang="ar-EG">
                <a:solidFill>
                  <a:srgbClr val="10283F"/>
                </a:solidFill>
                <a:latin typeface="Cairo"/>
                <a:cs typeface="Cairo"/>
              </a:rPr>
              <a:t>الذكاء الاصطناعي: </a:t>
            </a:r>
            <a:r>
              <a:rPr sz="2300" b="1" i="0" lang="ar-EG">
                <a:solidFill>
                  <a:srgbClr val="FF4453"/>
                </a:solidFill>
                <a:latin typeface="Cairo"/>
                <a:cs typeface="Cairo"/>
              </a:rPr>
              <a:t>بصمة عصبية ⁦128-D⁩ وكشف حيوية متعدد الطبقات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59068" y="2002536"/>
            <a:ext cx="5143500" cy="2212848"/>
          </a:xfrm>
          <a:prstGeom prst="rect">
            <a:avLst/>
          </a:prstGeom>
          <a:solidFill>
            <a:srgbClr val="58D5CC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5059" y="1938528"/>
            <a:ext cx="5143500" cy="2212848"/>
          </a:xfrm>
          <a:prstGeom prst="rect">
            <a:avLst/>
          </a:prstGeom>
          <a:solidFill>
            <a:srgbClr val="F0FDFC"/>
          </a:solidFill>
          <a:ln w="22225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78924" y="2075688"/>
            <a:ext cx="1513332" cy="22860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NEURAL FACE EMBEDDINGS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1364" y="2359152"/>
            <a:ext cx="4850892" cy="1704441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</a:pPr>
            <a:r>
              <a:rPr sz="1250" b="1" i="0" lang="ar-EG">
                <a:solidFill>
                  <a:srgbClr val="10283F"/>
                </a:solidFill>
                <a:latin typeface="Cairo"/>
                <a:cs typeface="Cairo"/>
              </a:rPr>
              <a:t>استخراج البصمة العصبية ⁦128-D⁩ ومطابقتها</a:t>
            </a:r>
          </a:p>
          <a:p>
            <a:pPr algn="r" rtl="1" marL="182880" indent="-182880">
              <a:lnSpc>
                <a:spcPct val="120000"/>
              </a:lnSpc>
              <a:spcBef>
                <a:spcPts val="400"/>
              </a:spcBef>
              <a:buFont typeface="Arial"/>
              <a:buChar char="•"/>
            </a:pPr>
            <a:r>
              <a:rPr sz="1050" b="0" i="0" lang="ar-EG">
                <a:solidFill>
                  <a:srgbClr val="10283F"/>
                </a:solidFill>
                <a:latin typeface="Cairo"/>
                <a:cs typeface="Cairo"/>
              </a:rPr>
              <a:t>استخراج ⁦128⁩ متجه عائم (⁦128-Dimensional Float Vectors⁩) يمثل الخصائص الهندسية الدقيقة للوجه.</a:t>
            </a:r>
          </a:p>
          <a:p>
            <a:pPr algn="r" rtl="1" marL="182880" indent="-182880">
              <a:lnSpc>
                <a:spcPct val="120000"/>
              </a:lnSpc>
              <a:spcBef>
                <a:spcPts val="200"/>
              </a:spcBef>
              <a:buFont typeface="Arial"/>
              <a:buChar char="•"/>
            </a:pPr>
            <a:r>
              <a:rPr sz="1050" b="0" i="0" lang="ar-EG">
                <a:solidFill>
                  <a:srgbClr val="10283F"/>
                </a:solidFill>
                <a:latin typeface="Cairo"/>
                <a:cs typeface="Cairo"/>
              </a:rPr>
              <a:t>تشغيل نموذج </a:t>
            </a:r>
            <a:r>
              <a:rPr sz="1050" b="1" i="0" lang="en-US">
                <a:solidFill>
                  <a:srgbClr val="10283F"/>
                </a:solidFill>
                <a:latin typeface="Cairo"/>
                <a:cs typeface="Cairo"/>
              </a:rPr>
              <a:t>⁦MobileNet-SSD &amp; ResNet⁩</a:t>
            </a:r>
            <a:r>
              <a:rPr sz="1050" b="0" i="0" lang="ar-EG">
                <a:solidFill>
                  <a:srgbClr val="10283F"/>
                </a:solidFill>
                <a:latin typeface="Cairo"/>
                <a:cs typeface="Cairo"/>
              </a:rPr>
              <a:t> محلياً بالكامل على متصفح الناخب (⁦Client-Side Edge Inference⁩) لحماية الخصوصية ومنع إرسال الفيديو للخوادم.</a:t>
            </a:r>
          </a:p>
          <a:p>
            <a:pPr algn="r" rtl="1" marL="182880" indent="-182880">
              <a:lnSpc>
                <a:spcPct val="120000"/>
              </a:lnSpc>
              <a:spcBef>
                <a:spcPts val="200"/>
              </a:spcBef>
              <a:buFont typeface="Arial"/>
              <a:buChar char="•"/>
            </a:pPr>
            <a:r>
              <a:rPr sz="1050" b="0" i="0" lang="ar-EG">
                <a:solidFill>
                  <a:srgbClr val="10283F"/>
                </a:solidFill>
                <a:latin typeface="Cairo"/>
                <a:cs typeface="Cairo"/>
              </a:rPr>
              <a:t>مطابقة المتجهات عبر المسافة الإقليدية (⁦Euclidean Distance &lt; 0.52⁩) وجيب التمام (⁦Cosine Similarity⁩) بدقة تتجاوز </a:t>
            </a:r>
            <a:r>
              <a:rPr sz="1050" b="1" i="0" lang="en-US">
                <a:solidFill>
                  <a:srgbClr val="10283F"/>
                </a:solidFill>
                <a:latin typeface="Cairo"/>
                <a:cs typeface="Cairo"/>
              </a:rPr>
              <a:t>⁦99.4%⁩</a:t>
            </a:r>
            <a:r>
              <a:rPr sz="1050" b="0" i="0" lang="en-US">
                <a:solidFill>
                  <a:srgbClr val="10283F"/>
                </a:solidFill>
                <a:latin typeface="Cairo"/>
                <a:cs typeface="Cairo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2687" y="2002536"/>
            <a:ext cx="5143500" cy="2212848"/>
          </a:xfrm>
          <a:prstGeom prst="rect">
            <a:avLst/>
          </a:prstGeom>
          <a:solidFill>
            <a:srgbClr val="E6BD5D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79" y="1938528"/>
            <a:ext cx="5143500" cy="2212848"/>
          </a:xfrm>
          <a:prstGeom prst="rect">
            <a:avLst/>
          </a:prstGeom>
          <a:solidFill>
            <a:srgbClr val="FFFDF2"/>
          </a:solidFill>
          <a:ln w="22225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52543" y="2075688"/>
            <a:ext cx="1513332" cy="22860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ANTI-SPOOFING LIVENESS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4983" y="2359152"/>
            <a:ext cx="4850892" cy="1704441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</a:pPr>
            <a:r>
              <a:rPr sz="1250" b="1" i="0" lang="ar-EG">
                <a:solidFill>
                  <a:srgbClr val="10283F"/>
                </a:solidFill>
                <a:latin typeface="Cairo"/>
                <a:cs typeface="Cairo"/>
              </a:rPr>
              <a:t>كشف الحيوية ومقاومة التزييف (⁦Liveness Detection⁩)</a:t>
            </a:r>
          </a:p>
          <a:p>
            <a:pPr algn="r" rtl="1" marL="182880" indent="-182880">
              <a:lnSpc>
                <a:spcPct val="120000"/>
              </a:lnSpc>
              <a:spcBef>
                <a:spcPts val="400"/>
              </a:spcBef>
              <a:buFont typeface="Arial"/>
              <a:buChar char="•"/>
            </a:pPr>
            <a:r>
              <a:rPr sz="1050" b="1" i="0" lang="ar-EG">
                <a:solidFill>
                  <a:srgbClr val="10283F"/>
                </a:solidFill>
                <a:latin typeface="Cairo"/>
                <a:cs typeface="Cairo"/>
              </a:rPr>
              <a:t>تحديات حركية ديناميكية:</a:t>
            </a:r>
            <a:r>
              <a:rPr sz="1050" b="0" i="0" lang="ar-EG">
                <a:solidFill>
                  <a:srgbClr val="10283F"/>
                </a:solidFill>
                <a:latin typeface="Cairo"/>
                <a:cs typeface="Cairo"/>
              </a:rPr>
              <a:t> إلزام الناخب بحركات عشوائية لحظية (طرفة عين ⁦Blink⁩، ابتسامة ⁦Smile⁩، إمالة واقتراب ⁦Head Yaw &amp; Distance⁩).</a:t>
            </a:r>
          </a:p>
          <a:p>
            <a:pPr algn="r" rtl="1" marL="182880" indent="-182880">
              <a:lnSpc>
                <a:spcPct val="120000"/>
              </a:lnSpc>
              <a:spcBef>
                <a:spcPts val="200"/>
              </a:spcBef>
              <a:buFont typeface="Arial"/>
              <a:buChar char="•"/>
            </a:pPr>
            <a:r>
              <a:rPr sz="1050" b="1" i="0" lang="ar-EG">
                <a:solidFill>
                  <a:srgbClr val="10283F"/>
                </a:solidFill>
                <a:latin typeface="Cairo"/>
                <a:cs typeface="Cairo"/>
              </a:rPr>
              <a:t>تحليل النسيج الضوئي (⁦Texture &amp; Moir⁩é ⁦Analysis⁩):</a:t>
            </a:r>
            <a:r>
              <a:rPr sz="1050" b="0" i="0" lang="ar-EG">
                <a:solidFill>
                  <a:srgbClr val="10283F"/>
                </a:solidFill>
                <a:latin typeface="Cairo"/>
                <a:cs typeface="Cairo"/>
              </a:rPr>
              <a:t> كشف الترددات المكانية وحواف الشاشات والانعكاسات الضوئية لمنع الاختراق بالصور المطبوعة أو الهواتف.</a:t>
            </a:r>
          </a:p>
          <a:p>
            <a:pPr algn="r" rtl="1" marL="182880" indent="-182880">
              <a:lnSpc>
                <a:spcPct val="120000"/>
              </a:lnSpc>
              <a:spcBef>
                <a:spcPts val="200"/>
              </a:spcBef>
              <a:buFont typeface="Arial"/>
              <a:buChar char="•"/>
            </a:pPr>
            <a:r>
              <a:rPr sz="1050" b="1" i="0" lang="ar-EG">
                <a:solidFill>
                  <a:srgbClr val="10283F"/>
                </a:solidFill>
                <a:latin typeface="Cairo"/>
                <a:cs typeface="Cairo"/>
              </a:rPr>
              <a:t>تتابع الإطارات الزمني (⁦Temporal Frame Coherence⁩):</a:t>
            </a:r>
            <a:r>
              <a:rPr sz="1050" b="0" i="0" lang="ar-EG">
                <a:solidFill>
                  <a:srgbClr val="10283F"/>
                </a:solidFill>
                <a:latin typeface="Cairo"/>
                <a:cs typeface="Cairo"/>
              </a:rPr>
              <a:t> فحص ⁦30⁩+ إطار متتابع للتأكد من حيوية الحركة ثلاثية الأبعاد.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34528" y="4379976"/>
            <a:ext cx="3368040" cy="1517904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0520" y="4315968"/>
            <a:ext cx="3368040" cy="1517904"/>
          </a:xfrm>
          <a:prstGeom prst="rect">
            <a:avLst/>
          </a:prstGeom>
          <a:solidFill>
            <a:srgbClr val="FFFFFF"/>
          </a:solidFill>
          <a:ln w="22225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193274" y="4453128"/>
            <a:ext cx="998982" cy="22860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LOCAL PRIVACY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16824" y="4736592"/>
            <a:ext cx="3075432" cy="1009497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</a:pPr>
            <a:r>
              <a:rPr sz="1250" b="1" i="0" lang="ar-EG">
                <a:solidFill>
                  <a:srgbClr val="10283F"/>
                </a:solidFill>
                <a:latin typeface="Cairo"/>
                <a:cs typeface="Cairo"/>
              </a:rPr>
              <a:t>خصوصية بيومترية تامة</a:t>
            </a:r>
          </a:p>
          <a:p>
            <a:pPr algn="r" rtl="1">
              <a:lnSpc>
                <a:spcPct val="122000"/>
              </a:lnSpc>
              <a:spcBef>
                <a:spcPts val="300"/>
              </a:spcBef>
            </a:pPr>
            <a:r>
              <a:rPr sz="1000" b="0" i="0" lang="ar-EG">
                <a:solidFill>
                  <a:srgbClr val="10283F"/>
                </a:solidFill>
                <a:latin typeface="Cairo"/>
                <a:cs typeface="Cairo"/>
              </a:rPr>
              <a:t>لا يتم تخزين صور الكاميرا على أي خادم؛ تُحوَّل الصورة لمتجه رقمي لحظي ويُمسح فور الانتهاء.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3607" y="4379976"/>
            <a:ext cx="3368040" cy="1517904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19599" y="4315968"/>
            <a:ext cx="3368040" cy="1517904"/>
          </a:xfrm>
          <a:prstGeom prst="rect">
            <a:avLst/>
          </a:prstGeom>
          <a:solidFill>
            <a:srgbClr val="FFFFFF"/>
          </a:solidFill>
          <a:ln w="22225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56653" y="4453128"/>
            <a:ext cx="884682" cy="22860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LIGHTWEIGHT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65903" y="4736592"/>
            <a:ext cx="3075432" cy="1009497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</a:pPr>
            <a:r>
              <a:rPr sz="1250" b="1" i="0" lang="ar-EG">
                <a:solidFill>
                  <a:srgbClr val="10283F"/>
                </a:solidFill>
                <a:latin typeface="Cairo"/>
                <a:cs typeface="Cairo"/>
              </a:rPr>
              <a:t>خفيف ويعمل على الموبايل</a:t>
            </a:r>
          </a:p>
          <a:p>
            <a:pPr algn="r" rtl="1">
              <a:lnSpc>
                <a:spcPct val="122000"/>
              </a:lnSpc>
              <a:spcBef>
                <a:spcPts val="300"/>
              </a:spcBef>
            </a:pPr>
            <a:r>
              <a:rPr sz="1000" b="0" i="0" lang="ar-EG">
                <a:solidFill>
                  <a:srgbClr val="10283F"/>
                </a:solidFill>
                <a:latin typeface="Cairo"/>
                <a:cs typeface="Cairo"/>
              </a:rPr>
              <a:t>حجم النماذج مضغوط بصيغة ⁦WebGL/WASM⁩، يعمل بسلاسة على الهواتف المتوسطة والضعيفة.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2687" y="4379976"/>
            <a:ext cx="3368040" cy="1517904"/>
          </a:xfrm>
          <a:prstGeom prst="rect">
            <a:avLst/>
          </a:prstGeom>
          <a:solidFill>
            <a:srgbClr val="43BF86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68679" y="4315968"/>
            <a:ext cx="3368040" cy="1517904"/>
          </a:xfrm>
          <a:prstGeom prst="rect">
            <a:avLst/>
          </a:prstGeom>
          <a:solidFill>
            <a:srgbClr val="F0FBF5"/>
          </a:solidFill>
          <a:ln w="22225">
            <a:solidFill>
              <a:srgbClr val="43BF86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77183" y="4453128"/>
            <a:ext cx="713232" cy="228600"/>
          </a:xfrm>
          <a:prstGeom prst="rect">
            <a:avLst/>
          </a:prstGeom>
          <a:solidFill>
            <a:srgbClr val="43BF86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CARD OCR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4983" y="4736592"/>
            <a:ext cx="3075432" cy="1009497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</a:pPr>
            <a:r>
              <a:rPr sz="1250" b="1" i="0" lang="ar-EG">
                <a:solidFill>
                  <a:srgbClr val="10283F"/>
                </a:solidFill>
                <a:latin typeface="Cairo"/>
                <a:cs typeface="Cairo"/>
              </a:rPr>
              <a:t>قراءة البطاقة العربية الذكية</a:t>
            </a:r>
          </a:p>
          <a:p>
            <a:pPr algn="r" rtl="1">
              <a:lnSpc>
                <a:spcPct val="122000"/>
              </a:lnSpc>
              <a:spcBef>
                <a:spcPts val="300"/>
              </a:spcBef>
            </a:pPr>
            <a:r>
              <a:rPr sz="1000" b="0" i="0" lang="ar-EG">
                <a:solidFill>
                  <a:srgbClr val="10283F"/>
                </a:solidFill>
                <a:latin typeface="Cairo"/>
                <a:cs typeface="Cairo"/>
              </a:rPr>
              <a:t>مطابقة الاسم وتاريخ الميلاد والمحافظة مع السجل المدني مع التسامح الإملائي للهمزات والألقاب.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68680" y="5961888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37" name="Rectangle 36"/>
          <p:cNvSpPr/>
          <p:nvPr/>
        </p:nvSpPr>
        <p:spPr>
          <a:xfrm>
            <a:off x="4023360" y="60350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محرك الذكاء الاصطناعي: </a:t>
            </a:r>
            <a:r>
              <a:rPr sz="850" b="1" i="0" lang="en-US">
                <a:solidFill>
                  <a:srgbClr val="0C2237"/>
                </a:solidFill>
                <a:latin typeface="Courier New"/>
                <a:cs typeface="Courier New"/>
              </a:rPr>
              <a:t>⁦MobileNet + ResNet-128D + Liveness Tracker⁩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" y="6035040"/>
            <a:ext cx="315468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l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الشريحة </a:t>
            </a:r>
            <a:r>
              <a:rPr sz="850" b="1" i="0" lang="ar-EG">
                <a:solidFill>
                  <a:srgbClr val="0C2237"/>
                </a:solidFill>
                <a:latin typeface="Cairo"/>
                <a:cs typeface="Cairo"/>
              </a:rPr>
              <a:t>⁦06⁩ من ⁦12⁩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7784" y="484632"/>
            <a:ext cx="11430000" cy="6217920"/>
          </a:xfrm>
          <a:prstGeom prst="rect">
            <a:avLst/>
          </a:prstGeom>
          <a:solidFill>
            <a:srgbClr val="58D5CC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9204" y="425196"/>
            <a:ext cx="11430000" cy="62179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310896"/>
            <a:ext cx="11430000" cy="6217920"/>
          </a:xfrm>
          <a:prstGeom prst="rect">
            <a:avLst/>
          </a:prstGeom>
          <a:solidFill>
            <a:srgbClr val="FBF9F1"/>
          </a:solidFill>
          <a:ln w="38100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438912"/>
            <a:ext cx="11173968" cy="5961888"/>
          </a:xfrm>
          <a:prstGeom prst="rect">
            <a:avLst/>
          </a:prstGeom>
          <a:noFill/>
          <a:ln w="12700">
            <a:solidFill>
              <a:srgbClr val="C3C7CA"/>
            </a:solidFill>
            <a:prstDash val="dash"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10312"/>
            <a:ext cx="2383536" cy="2743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173736"/>
            <a:ext cx="2383536" cy="274320"/>
          </a:xfrm>
          <a:prstGeom prst="rect">
            <a:avLst/>
          </a:prstGeom>
          <a:solidFill>
            <a:srgbClr val="FF4453"/>
          </a:solidFill>
          <a:ln w="19050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50" b="1" i="0" lang="en-US">
                <a:solidFill>
                  <a:srgbClr val="FFFFFF"/>
                </a:solidFill>
                <a:latin typeface="Courier New"/>
                <a:cs typeface="Courier New"/>
              </a:rPr>
              <a:t>SLIDE 07 // APPLIED CRYPTOGRAPHY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566928"/>
            <a:ext cx="2773679" cy="256032"/>
          </a:xfrm>
          <a:prstGeom prst="rect">
            <a:avLst/>
          </a:prstGeom>
          <a:solidFill>
            <a:srgbClr val="ECEEEF"/>
          </a:solidFill>
          <a:ln w="9525">
            <a:solidFill>
              <a:srgbClr val="B8C0C6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00" b="1" i="0" lang="en-US">
                <a:solidFill>
                  <a:srgbClr val="10283F"/>
                </a:solidFill>
                <a:latin typeface="Courier New"/>
                <a:cs typeface="Courier New"/>
              </a:rPr>
              <a:t>HMAC TOKENS &amp; CRYPTOGRAPHIC BLIND RECEIPT</a:t>
            </a:r>
          </a:p>
        </p:txBody>
      </p:sp>
      <p:sp>
        <p:nvSpPr>
          <p:cNvPr id="9" name="Oval 8"/>
          <p:cNvSpPr/>
          <p:nvPr/>
        </p:nvSpPr>
        <p:spPr>
          <a:xfrm>
            <a:off x="11219688" y="640080"/>
            <a:ext cx="118872" cy="118872"/>
          </a:xfrm>
          <a:prstGeom prst="ellipse">
            <a:avLst/>
          </a:prstGeom>
          <a:solidFill>
            <a:srgbClr val="43BF86"/>
          </a:solidFill>
          <a:ln w="15240">
            <a:solidFill>
              <a:srgbClr val="10283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25239" y="530352"/>
            <a:ext cx="7275576" cy="32918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1050" b="1" i="0" lang="ar-EG">
                <a:solidFill>
                  <a:srgbClr val="10283F"/>
                </a:solidFill>
                <a:latin typeface="Cairo"/>
                <a:cs typeface="Cairo"/>
              </a:rPr>
              <a:t>العمق التقني: التشفير ومعمارية الأمان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950976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12" name="Rectangle 11"/>
          <p:cNvSpPr/>
          <p:nvPr/>
        </p:nvSpPr>
        <p:spPr>
          <a:xfrm>
            <a:off x="10321290" y="1042415"/>
            <a:ext cx="1017270" cy="256032"/>
          </a:xfrm>
          <a:prstGeom prst="rect">
            <a:avLst/>
          </a:prstGeom>
          <a:solidFill>
            <a:srgbClr val="0C2237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SECURITY 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46770" y="1042415"/>
            <a:ext cx="1874519" cy="256032"/>
          </a:xfrm>
          <a:prstGeom prst="rect">
            <a:avLst/>
          </a:prstGeom>
          <a:solidFill>
            <a:srgbClr val="E6BD5D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0C2237"/>
                </a:solidFill>
                <a:latin typeface="Cairo"/>
                <a:cs typeface="Cairo"/>
              </a:rPr>
              <a:t>التشفير المطبق وحماية البيانات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15150" y="1042415"/>
            <a:ext cx="1531620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4453"/>
                </a:solidFill>
                <a:latin typeface="Courier New"/>
                <a:cs typeface="Courier New"/>
              </a:rPr>
              <a:t>ZERO-KNOWLEDGE PRIVACY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1371600"/>
            <a:ext cx="10469880" cy="566928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08000"/>
              </a:lnSpc>
            </a:pPr>
            <a:r>
              <a:rPr sz="2600" b="1" i="0" lang="ar-EG">
                <a:solidFill>
                  <a:srgbClr val="10283F"/>
                </a:solidFill>
                <a:latin typeface="Cairo"/>
                <a:cs typeface="Cairo"/>
              </a:rPr>
              <a:t>الأمان التشفيري: </a:t>
            </a:r>
            <a:r>
              <a:rPr sz="2600" b="1" i="0" lang="ar-EG">
                <a:solidFill>
                  <a:srgbClr val="FF4453"/>
                </a:solidFill>
                <a:latin typeface="Cairo"/>
                <a:cs typeface="Cairo"/>
              </a:rPr>
              <a:t>توقيعات عمياء وإيصال تحقق رياضي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4528" y="2066543"/>
            <a:ext cx="3368040" cy="2286000"/>
          </a:xfrm>
          <a:prstGeom prst="rect">
            <a:avLst/>
          </a:prstGeom>
          <a:solidFill>
            <a:srgbClr val="58D5CC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70520" y="2002536"/>
            <a:ext cx="3368040" cy="2286000"/>
          </a:xfrm>
          <a:prstGeom prst="rect">
            <a:avLst/>
          </a:prstGeom>
          <a:solidFill>
            <a:srgbClr val="0C2237"/>
          </a:solidFill>
          <a:ln w="22225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307574" y="2139696"/>
            <a:ext cx="884682" cy="228600"/>
          </a:xfrm>
          <a:prstGeom prst="rect">
            <a:avLst/>
          </a:prstGeom>
          <a:solidFill>
            <a:srgbClr val="E6BD5D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0C2237"/>
                </a:solidFill>
                <a:latin typeface="Courier New"/>
                <a:cs typeface="Courier New"/>
              </a:rPr>
              <a:t>HMAC-SHA256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16824" y="2423160"/>
            <a:ext cx="3075432" cy="1777593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</a:pPr>
            <a:r>
              <a:rPr sz="1250" b="1" i="0" lang="ar-EG">
                <a:solidFill>
                  <a:srgbClr val="FFFFFF"/>
                </a:solidFill>
                <a:latin typeface="Cairo"/>
                <a:cs typeface="Cairo"/>
              </a:rPr>
              <a:t>التوقيع الرقمي الأعمى</a:t>
            </a:r>
          </a:p>
          <a:p>
            <a:pPr algn="r" rtl="1">
              <a:lnSpc>
                <a:spcPct val="122000"/>
              </a:lnSpc>
              <a:spcBef>
                <a:spcPts val="400"/>
              </a:spcBef>
            </a:pPr>
            <a:r>
              <a:rPr sz="1050" b="0" i="0" lang="ar-EG">
                <a:solidFill>
                  <a:srgbClr val="FFFFFF"/>
                </a:solidFill>
                <a:latin typeface="Cairo"/>
                <a:cs typeface="Cairo"/>
              </a:rPr>
              <a:t>يُصدر الخادم رمز تصويت موقّع بـ </a:t>
            </a:r>
            <a:r>
              <a:rPr sz="1050" b="1" i="0" lang="en-US">
                <a:solidFill>
                  <a:srgbClr val="FFFFFF"/>
                </a:solidFill>
                <a:latin typeface="Cairo"/>
                <a:cs typeface="Cairo"/>
              </a:rPr>
              <a:t>⁦HMAC-SHA256⁩</a:t>
            </a:r>
            <a:r>
              <a:rPr sz="1050" b="0" i="0" lang="ar-EG">
                <a:solidFill>
                  <a:srgbClr val="FFFFFF"/>
                </a:solidFill>
                <a:latin typeface="Cairo"/>
                <a:cs typeface="Cairo"/>
              </a:rPr>
              <a:t> مع ⁦Nonce⁩ عشوائي وطابع زمني محدد بفترة صلاحية ⁦5⁩ دقائق، مما يمنع التزييف وهجمات إعادة الإرسال (⁦Replay Attacks⁩).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3607" y="2066543"/>
            <a:ext cx="3368040" cy="2286000"/>
          </a:xfrm>
          <a:prstGeom prst="rect">
            <a:avLst/>
          </a:prstGeom>
          <a:solidFill>
            <a:srgbClr val="58D5CC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19599" y="2002536"/>
            <a:ext cx="3368040" cy="2286000"/>
          </a:xfrm>
          <a:prstGeom prst="rect">
            <a:avLst/>
          </a:prstGeom>
          <a:solidFill>
            <a:srgbClr val="F0FDFC"/>
          </a:solidFill>
          <a:ln w="22225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70903" y="2139696"/>
            <a:ext cx="1170432" cy="22860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SCHEMA ISOLATION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65903" y="2423160"/>
            <a:ext cx="3075432" cy="1777593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</a:pPr>
            <a:r>
              <a:rPr sz="1250" b="1" i="0" lang="ar-EG">
                <a:solidFill>
                  <a:srgbClr val="10283F"/>
                </a:solidFill>
                <a:latin typeface="Cairo"/>
                <a:cs typeface="Cairo"/>
              </a:rPr>
              <a:t>عزل قواعد البيانات</a:t>
            </a:r>
          </a:p>
          <a:p>
            <a:pPr algn="r" rtl="1">
              <a:lnSpc>
                <a:spcPct val="122000"/>
              </a:lnSpc>
              <a:spcBef>
                <a:spcPts val="400"/>
              </a:spcBef>
            </a:pPr>
            <a:r>
              <a:rPr sz="1050" b="0" i="0" lang="ar-EG">
                <a:solidFill>
                  <a:srgbClr val="10283F"/>
                </a:solidFill>
                <a:latin typeface="Cairo"/>
                <a:cs typeface="Cairo"/>
              </a:rPr>
              <a:t>جدول الناخبين (⁦Voters⁩) يحتوي فقط على هاش الرقم القومي وحالة التصويت. جدول الأصوات (⁦Ballots⁩) لا يحتوي على أي حقل للناخب أو جلسة المتصفح (⁦Zero-Link By Design⁩).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7" y="2066543"/>
            <a:ext cx="3368040" cy="2286000"/>
          </a:xfrm>
          <a:prstGeom prst="rect">
            <a:avLst/>
          </a:prstGeom>
          <a:solidFill>
            <a:srgbClr val="43BF86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79" y="2002536"/>
            <a:ext cx="3368040" cy="2286000"/>
          </a:xfrm>
          <a:prstGeom prst="rect">
            <a:avLst/>
          </a:prstGeom>
          <a:solidFill>
            <a:srgbClr val="F0FBF5"/>
          </a:solidFill>
          <a:ln w="22225">
            <a:solidFill>
              <a:srgbClr val="43BF86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148583" y="2139696"/>
            <a:ext cx="941831" cy="228600"/>
          </a:xfrm>
          <a:prstGeom prst="rect">
            <a:avLst/>
          </a:prstGeom>
          <a:solidFill>
            <a:srgbClr val="43BF86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HASH RECEIPT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3" y="2423160"/>
            <a:ext cx="3075432" cy="1777593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</a:pPr>
            <a:r>
              <a:rPr sz="1250" b="1" i="0" lang="ar-EG">
                <a:solidFill>
                  <a:srgbClr val="10283F"/>
                </a:solidFill>
                <a:latin typeface="Cairo"/>
                <a:cs typeface="Cairo"/>
              </a:rPr>
              <a:t>إيصال التحقق المشفر</a:t>
            </a:r>
          </a:p>
          <a:p>
            <a:pPr algn="r" rtl="1">
              <a:lnSpc>
                <a:spcPct val="122000"/>
              </a:lnSpc>
              <a:spcBef>
                <a:spcPts val="400"/>
              </a:spcBef>
            </a:pPr>
            <a:r>
              <a:rPr sz="1050" b="0" i="0" lang="ar-EG">
                <a:solidFill>
                  <a:srgbClr val="10283F"/>
                </a:solidFill>
                <a:latin typeface="Cairo"/>
                <a:cs typeface="Cairo"/>
              </a:rPr>
              <a:t>يُولد كود إيصال مثل </a:t>
            </a:r>
            <a:r>
              <a:rPr sz="1050" b="1" i="0" lang="en-US">
                <a:solidFill>
                  <a:srgbClr val="10283F"/>
                </a:solidFill>
                <a:latin typeface="Courier New"/>
                <a:cs typeface="Courier New"/>
              </a:rPr>
              <a:t>⁦ABCDE-23456⁩</a:t>
            </a:r>
            <a:r>
              <a:rPr sz="1050" b="0" i="0" lang="ar-EG">
                <a:solidFill>
                  <a:srgbClr val="10283F"/>
                </a:solidFill>
                <a:latin typeface="Cairo"/>
                <a:cs typeface="Cairo"/>
              </a:rPr>
              <a:t> مبني على هاش أحادي الاتجاه مع ⁦Salt⁩ مشفر، يتيح للناخب فحص وجود صوته بالصندوق دون كشف اسم مرشحه لأي مراقب.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2688" y="4562856"/>
            <a:ext cx="10469880" cy="1188720"/>
          </a:xfrm>
          <a:prstGeom prst="rect">
            <a:avLst/>
          </a:prstGeom>
          <a:solidFill>
            <a:srgbClr val="E6BD5D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8680" y="4498848"/>
            <a:ext cx="10469880" cy="1188720"/>
          </a:xfrm>
          <a:prstGeom prst="rect">
            <a:avLst/>
          </a:prstGeom>
          <a:solidFill>
            <a:srgbClr val="FFFDF2"/>
          </a:solidFill>
          <a:ln w="22225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250424" y="4636008"/>
            <a:ext cx="941831" cy="22860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RLS POLICIES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4983" y="4919472"/>
            <a:ext cx="10177272" cy="680313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</a:pPr>
            <a:r>
              <a:rPr sz="1250" b="1" i="0" lang="ar-EG">
                <a:solidFill>
                  <a:srgbClr val="10283F"/>
                </a:solidFill>
                <a:latin typeface="Cairo"/>
                <a:cs typeface="Cairo"/>
              </a:rPr>
              <a:t>حماية مستوى الصفوف (⁦PostgreSQL RLS⁩)</a:t>
            </a:r>
          </a:p>
          <a:p>
            <a:pPr algn="r" rtl="1">
              <a:lnSpc>
                <a:spcPct val="122000"/>
              </a:lnSpc>
              <a:spcBef>
                <a:spcPts val="400"/>
              </a:spcBef>
            </a:pPr>
            <a:r>
              <a:rPr sz="1100" b="0" i="0" lang="ar-EG">
                <a:solidFill>
                  <a:srgbClr val="10283F"/>
                </a:solidFill>
                <a:latin typeface="Cairo"/>
                <a:cs typeface="Cairo"/>
              </a:rPr>
              <a:t>حظر الوصول العام إلى جداول الناخبين والأصوات، وحصر العمليات الحساسة عبر خادم معتمد بمفتاح مشفر وسجل تدقيق أمني (⁦Audit Log⁩).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8680" y="5961888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33" name="Rectangle 32"/>
          <p:cNvSpPr/>
          <p:nvPr/>
        </p:nvSpPr>
        <p:spPr>
          <a:xfrm>
            <a:off x="4023360" y="60350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بروتوكول الأمان: </a:t>
            </a:r>
            <a:r>
              <a:rPr sz="850" b="1" i="0" lang="en-US">
                <a:solidFill>
                  <a:srgbClr val="0C2237"/>
                </a:solidFill>
                <a:latin typeface="Courier New"/>
                <a:cs typeface="Courier New"/>
              </a:rPr>
              <a:t>⁦HMAC-SHA256 + Blind Tokens + Nonce Replay Prevention⁩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" y="6035040"/>
            <a:ext cx="315468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l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الشريحة </a:t>
            </a:r>
            <a:r>
              <a:rPr sz="850" b="1" i="0" lang="ar-EG">
                <a:solidFill>
                  <a:srgbClr val="0C2237"/>
                </a:solidFill>
                <a:latin typeface="Cairo"/>
                <a:cs typeface="Cairo"/>
              </a:rPr>
              <a:t>⁦07⁩ من ⁦12⁩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7784" y="484632"/>
            <a:ext cx="11430000" cy="6217920"/>
          </a:xfrm>
          <a:prstGeom prst="rect">
            <a:avLst/>
          </a:prstGeom>
          <a:solidFill>
            <a:srgbClr val="58D5CC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9204" y="425196"/>
            <a:ext cx="11430000" cy="62179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310896"/>
            <a:ext cx="11430000" cy="6217920"/>
          </a:xfrm>
          <a:prstGeom prst="rect">
            <a:avLst/>
          </a:prstGeom>
          <a:solidFill>
            <a:srgbClr val="FBF9F1"/>
          </a:solidFill>
          <a:ln w="38100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438912"/>
            <a:ext cx="11173968" cy="5961888"/>
          </a:xfrm>
          <a:prstGeom prst="rect">
            <a:avLst/>
          </a:prstGeom>
          <a:noFill/>
          <a:ln w="12700">
            <a:solidFill>
              <a:srgbClr val="C3C7CA"/>
            </a:solidFill>
            <a:prstDash val="dash"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10312"/>
            <a:ext cx="2189225" cy="2743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173736"/>
            <a:ext cx="2189225" cy="274320"/>
          </a:xfrm>
          <a:prstGeom prst="rect">
            <a:avLst/>
          </a:prstGeom>
          <a:solidFill>
            <a:srgbClr val="FF4453"/>
          </a:solidFill>
          <a:ln w="19050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50" b="1" i="0" lang="en-US">
                <a:solidFill>
                  <a:srgbClr val="FFFFFF"/>
                </a:solidFill>
                <a:latin typeface="Courier New"/>
                <a:cs typeface="Courier New"/>
              </a:rPr>
              <a:t>SLIDE 08 // FEASIBILITY &amp; ROI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566928"/>
            <a:ext cx="2956559" cy="256032"/>
          </a:xfrm>
          <a:prstGeom prst="rect">
            <a:avLst/>
          </a:prstGeom>
          <a:solidFill>
            <a:srgbClr val="ECEEEF"/>
          </a:solidFill>
          <a:ln w="9525">
            <a:solidFill>
              <a:srgbClr val="B8C0C6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00" b="1" i="0" lang="en-US">
                <a:solidFill>
                  <a:srgbClr val="10283F"/>
                </a:solidFill>
                <a:latin typeface="Courier New"/>
                <a:cs typeface="Courier New"/>
              </a:rPr>
              <a:t>ECONOMIC, ENVIRONMENTAL &amp; OPERATIONAL IMPACT</a:t>
            </a:r>
          </a:p>
        </p:txBody>
      </p:sp>
      <p:sp>
        <p:nvSpPr>
          <p:cNvPr id="9" name="Oval 8"/>
          <p:cNvSpPr/>
          <p:nvPr/>
        </p:nvSpPr>
        <p:spPr>
          <a:xfrm>
            <a:off x="11219688" y="640080"/>
            <a:ext cx="118872" cy="118872"/>
          </a:xfrm>
          <a:prstGeom prst="ellipse">
            <a:avLst/>
          </a:prstGeom>
          <a:solidFill>
            <a:srgbClr val="43BF86"/>
          </a:solidFill>
          <a:ln w="15240">
            <a:solidFill>
              <a:srgbClr val="10283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08119" y="530352"/>
            <a:ext cx="7092696" cy="32918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1050" b="1" i="0" lang="ar-EG">
                <a:solidFill>
                  <a:srgbClr val="10283F"/>
                </a:solidFill>
                <a:latin typeface="Cairo"/>
                <a:cs typeface="Cairo"/>
              </a:rPr>
              <a:t>دراسة الجدوى والعائد القومي (⁦Feasibility &amp; ROI Study⁩)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950976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12" name="Rectangle 11"/>
          <p:cNvSpPr/>
          <p:nvPr/>
        </p:nvSpPr>
        <p:spPr>
          <a:xfrm>
            <a:off x="10321290" y="1042415"/>
            <a:ext cx="1017270" cy="256032"/>
          </a:xfrm>
          <a:prstGeom prst="rect">
            <a:avLst/>
          </a:prstGeom>
          <a:solidFill>
            <a:srgbClr val="0C2237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IMPACT MATRIX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93430" y="1042415"/>
            <a:ext cx="1927860" cy="256032"/>
          </a:xfrm>
          <a:prstGeom prst="rect">
            <a:avLst/>
          </a:prstGeom>
          <a:solidFill>
            <a:srgbClr val="E6BD5D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0C2237"/>
                </a:solidFill>
                <a:latin typeface="Cairo"/>
                <a:cs typeface="Cairo"/>
              </a:rPr>
              <a:t>مقارنة بالأرقام والنسب الحقيقية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47560" y="1042415"/>
            <a:ext cx="1245870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4453"/>
                </a:solidFill>
                <a:latin typeface="Courier New"/>
                <a:cs typeface="Courier New"/>
              </a:rPr>
              <a:t>MEASURABLE IMPACT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1371600"/>
            <a:ext cx="10469880" cy="566928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08000"/>
              </a:lnSpc>
            </a:pPr>
            <a:r>
              <a:rPr sz="2400" b="1" i="0" lang="ar-EG">
                <a:solidFill>
                  <a:srgbClr val="10283F"/>
                </a:solidFill>
                <a:latin typeface="Cairo"/>
                <a:cs typeface="Cairo"/>
              </a:rPr>
              <a:t>العائد القومي والجدوى: </a:t>
            </a:r>
            <a:r>
              <a:rPr sz="2400" b="1" i="0" lang="ar-EG">
                <a:solidFill>
                  <a:srgbClr val="FF4453"/>
                </a:solidFill>
                <a:latin typeface="Cairo"/>
                <a:cs typeface="Cairo"/>
              </a:rPr>
              <a:t>توفير مالي، حماية بيئية، ودقة ⁦100%⁩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4528" y="2002536"/>
            <a:ext cx="3368040" cy="1874519"/>
          </a:xfrm>
          <a:prstGeom prst="rect">
            <a:avLst/>
          </a:prstGeom>
          <a:solidFill>
            <a:srgbClr val="43BF86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70520" y="1938528"/>
            <a:ext cx="3368040" cy="1874519"/>
          </a:xfrm>
          <a:prstGeom prst="rect">
            <a:avLst/>
          </a:prstGeom>
          <a:solidFill>
            <a:srgbClr val="F0FBF5"/>
          </a:solidFill>
          <a:ln w="22225">
            <a:solidFill>
              <a:srgbClr val="43BF86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69324" y="2075688"/>
            <a:ext cx="2122931" cy="228600"/>
          </a:xfrm>
          <a:prstGeom prst="rect">
            <a:avLst/>
          </a:prstGeom>
          <a:solidFill>
            <a:srgbClr val="43BF86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FFFFFF"/>
                </a:solidFill>
                <a:latin typeface="Cairo"/>
                <a:cs typeface="Cairo"/>
              </a:rPr>
              <a:t>⁦01⁩ // العائد المالي (⁦Financial ROI⁩)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16824" y="2359152"/>
            <a:ext cx="3075432" cy="1366113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  <a:spcBef>
                <a:spcPts val="600"/>
              </a:spcBef>
            </a:pPr>
            <a:r>
              <a:rPr sz="1800" b="1" i="0" lang="ar-EG">
                <a:solidFill>
                  <a:srgbClr val="1B5E20"/>
                </a:solidFill>
                <a:latin typeface="Cairo"/>
                <a:cs typeface="Cairo"/>
              </a:rPr>
              <a:t>وفر مالي &gt; ⁦85%⁩</a:t>
            </a:r>
          </a:p>
          <a:p>
            <a:pPr algn="r" rtl="1">
              <a:lnSpc>
                <a:spcPct val="122000"/>
              </a:lnSpc>
              <a:spcBef>
                <a:spcPts val="400"/>
              </a:spcBef>
            </a:pPr>
            <a:r>
              <a:rPr sz="1000" b="0" i="0" lang="ar-EG">
                <a:solidFill>
                  <a:srgbClr val="10283F"/>
                </a:solidFill>
                <a:latin typeface="Cairo"/>
                <a:cs typeface="Cairo"/>
              </a:rPr>
              <a:t>إلغاء تكاليف طباعة بطاقات الاقتراع المؤمنة، والأحبار الفسفورية، وكبائن التصويت الخشبية، ومكافآت لجان الفرز اليدوي الطويلة، واستبدالها بخوادم سحابية خفيفة.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3607" y="2002536"/>
            <a:ext cx="3368040" cy="1874519"/>
          </a:xfrm>
          <a:prstGeom prst="rect">
            <a:avLst/>
          </a:prstGeom>
          <a:solidFill>
            <a:srgbClr val="58D5CC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19599" y="1938528"/>
            <a:ext cx="3368040" cy="1874519"/>
          </a:xfrm>
          <a:prstGeom prst="rect">
            <a:avLst/>
          </a:prstGeom>
          <a:solidFill>
            <a:srgbClr val="F0FDFC"/>
          </a:solidFill>
          <a:ln w="22225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731763" y="2075688"/>
            <a:ext cx="1909572" cy="22860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FFFFFF"/>
                </a:solidFill>
                <a:latin typeface="Cairo"/>
                <a:cs typeface="Cairo"/>
              </a:rPr>
              <a:t>⁦02⁩ // الأثر البيئي (⁦Green Tech⁩)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65903" y="2359152"/>
            <a:ext cx="3075432" cy="1366113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0">
              <a:lnSpc>
                <a:spcPct val="110000"/>
              </a:lnSpc>
              <a:spcBef>
                <a:spcPts val="600"/>
              </a:spcBef>
            </a:pPr>
            <a:r>
              <a:rPr sz="1800" b="1" i="0" lang="en-US">
                <a:solidFill>
                  <a:srgbClr val="006064"/>
                </a:solidFill>
                <a:latin typeface="Cairo"/>
                <a:cs typeface="Cairo"/>
              </a:rPr>
              <a:t>Zero-Paper 100%</a:t>
            </a:r>
          </a:p>
          <a:p>
            <a:pPr algn="r" rtl="1">
              <a:lnSpc>
                <a:spcPct val="122000"/>
              </a:lnSpc>
              <a:spcBef>
                <a:spcPts val="400"/>
              </a:spcBef>
            </a:pPr>
            <a:r>
              <a:rPr sz="1000" b="0" i="0" lang="ar-EG">
                <a:solidFill>
                  <a:srgbClr val="10283F"/>
                </a:solidFill>
                <a:latin typeface="Cairo"/>
                <a:cs typeface="Cairo"/>
              </a:rPr>
              <a:t>توفير أطنان من الأوراق سنوياً، وإنقاذ آلاف الأشجار، وتخفيض البصمة الكربونية لأسطول النقل اللوجستي وتوزيع الصناديق في المحافظات إلى الصفر.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7" y="2002536"/>
            <a:ext cx="3368040" cy="1874519"/>
          </a:xfrm>
          <a:prstGeom prst="rect">
            <a:avLst/>
          </a:prstGeom>
          <a:solidFill>
            <a:srgbClr val="E6BD5D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79" y="1938528"/>
            <a:ext cx="3368040" cy="1874519"/>
          </a:xfrm>
          <a:prstGeom prst="rect">
            <a:avLst/>
          </a:prstGeom>
          <a:solidFill>
            <a:srgbClr val="FFFDF2"/>
          </a:solidFill>
          <a:ln w="22225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60803" y="2075688"/>
            <a:ext cx="2229612" cy="22860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FFFFFF"/>
                </a:solidFill>
                <a:latin typeface="Cairo"/>
                <a:cs typeface="Cairo"/>
              </a:rPr>
              <a:t>⁦03⁩ // الكفاءة التشغيلية (⁦Operational⁩)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3" y="2359152"/>
            <a:ext cx="3075432" cy="1366113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  <a:spcBef>
                <a:spcPts val="600"/>
              </a:spcBef>
            </a:pPr>
            <a:r>
              <a:rPr sz="1800" b="1" i="0" lang="ar-EG">
                <a:solidFill>
                  <a:srgbClr val="0C2237"/>
                </a:solidFill>
                <a:latin typeface="Cairo"/>
                <a:cs typeface="Cairo"/>
              </a:rPr>
              <a:t>فرز لحظي في ⁦0.1⁩ ثانية</a:t>
            </a:r>
          </a:p>
          <a:p>
            <a:pPr algn="r" rtl="1">
              <a:lnSpc>
                <a:spcPct val="122000"/>
              </a:lnSpc>
              <a:spcBef>
                <a:spcPts val="400"/>
              </a:spcBef>
            </a:pPr>
            <a:r>
              <a:rPr sz="1000" b="0" i="0" lang="ar-EG">
                <a:solidFill>
                  <a:srgbClr val="10283F"/>
                </a:solidFill>
                <a:latin typeface="Cairo"/>
                <a:cs typeface="Cairo"/>
              </a:rPr>
              <a:t>إعلان النتائج فور إغلاق الصندوق بدقة رياضية ⁦100%⁩ وانعدام تام للأخطاء البشرية أو إبطال الأصوات العشوائي، مع تدقيق فوري للنتائج.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" y="4059935"/>
            <a:ext cx="10469880" cy="182880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8680" y="4005072"/>
            <a:ext cx="10469880" cy="1828800"/>
          </a:xfrm>
          <a:prstGeom prst="rect">
            <a:avLst/>
          </a:prstGeom>
          <a:solidFill>
            <a:srgbClr val="FFFFFF"/>
          </a:solidFill>
          <a:ln w="31750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51560" y="4114800"/>
            <a:ext cx="1010412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1100" b="1" i="0" lang="ar-EG">
                <a:solidFill>
                  <a:srgbClr val="10283F"/>
                </a:solidFill>
                <a:latin typeface="Cairo"/>
                <a:cs typeface="Cairo"/>
              </a:rPr>
              <a:t>🎛️ جرب محاكي الوفر التقديري لعدد ناخبين / طلاب: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97280" y="4553712"/>
            <a:ext cx="4846320" cy="64008"/>
          </a:xfrm>
          <a:prstGeom prst="rect">
            <a:avLst/>
          </a:prstGeom>
          <a:solidFill>
            <a:srgbClr val="D9DDE1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97280" y="4553712"/>
            <a:ext cx="237469" cy="64008"/>
          </a:xfrm>
          <a:prstGeom prst="rect">
            <a:avLst/>
          </a:prstGeom>
          <a:solidFill>
            <a:srgbClr val="FF4453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252453" y="4498848"/>
            <a:ext cx="182880" cy="182880"/>
          </a:xfrm>
          <a:prstGeom prst="ellipse">
            <a:avLst/>
          </a:prstGeom>
          <a:solidFill>
            <a:srgbClr val="FF4453"/>
          </a:solidFill>
          <a:ln w="19050">
            <a:solidFill>
              <a:srgbClr val="10283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4462272"/>
            <a:ext cx="3291840" cy="274320"/>
          </a:xfrm>
          <a:prstGeom prst="rect">
            <a:avLst/>
          </a:prstGeom>
          <a:solidFill>
            <a:srgbClr val="0C2237"/>
          </a:solidFill>
          <a:ln w="15875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1100" b="1" i="0" lang="ar-EG">
                <a:solidFill>
                  <a:srgbClr val="FFFFFF"/>
                </a:solidFill>
                <a:latin typeface="Cairo"/>
                <a:cs typeface="Cairo"/>
              </a:rPr>
              <a:t>٥٠٬٠٠٠ طالب / ناخب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09560" y="4919472"/>
            <a:ext cx="3246120" cy="749808"/>
          </a:xfrm>
          <a:prstGeom prst="rect">
            <a:avLst/>
          </a:prstGeom>
          <a:solidFill>
            <a:srgbClr val="F7F4EA"/>
          </a:solidFill>
          <a:ln w="15875">
            <a:solidFill>
              <a:srgbClr val="10283F"/>
            </a:solidFill>
          </a:ln>
        </p:spPr>
        <p:txBody>
          <a:bodyPr rtlCol="0" anchor="ctr" wrap="square" lIns="54864" tIns="36576" rIns="54864" bIns="36576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900" b="1" i="0" lang="ar-EG">
                <a:solidFill>
                  <a:srgbClr val="68727B"/>
                </a:solidFill>
                <a:latin typeface="Cairo"/>
                <a:cs typeface="Cairo"/>
              </a:rPr>
              <a:t>التكلفة الورقية التقليدية المتوقعة</a:t>
            </a:r>
          </a:p>
          <a:p>
            <a:pPr algn="ctr" rtl="1">
              <a:lnSpc>
                <a:spcPct val="100000"/>
              </a:lnSpc>
              <a:spcBef>
                <a:spcPts val="400"/>
              </a:spcBef>
            </a:pPr>
            <a:r>
              <a:rPr sz="1500" b="1" i="0" lang="ar-EG">
                <a:solidFill>
                  <a:srgbClr val="FF4453"/>
                </a:solidFill>
                <a:latin typeface="Cairo"/>
                <a:cs typeface="Cairo"/>
              </a:rPr>
              <a:t>~ ٢٥٠٬٠٠٠ ج.م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80560" y="4919472"/>
            <a:ext cx="3246120" cy="749808"/>
          </a:xfrm>
          <a:prstGeom prst="rect">
            <a:avLst/>
          </a:prstGeom>
          <a:solidFill>
            <a:srgbClr val="F7F4EA"/>
          </a:solidFill>
          <a:ln w="15875">
            <a:solidFill>
              <a:srgbClr val="10283F"/>
            </a:solidFill>
          </a:ln>
        </p:spPr>
        <p:txBody>
          <a:bodyPr rtlCol="0" anchor="ctr" wrap="square" lIns="54864" tIns="36576" rIns="54864" bIns="36576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900" b="1" i="0" lang="ar-EG">
                <a:solidFill>
                  <a:srgbClr val="68727B"/>
                </a:solidFill>
                <a:latin typeface="Cairo"/>
                <a:cs typeface="Cairo"/>
              </a:rPr>
              <a:t>تكلفة منظومة «صوت موثّق» السحابية</a:t>
            </a:r>
          </a:p>
          <a:p>
            <a:pPr algn="ctr" rtl="1">
              <a:lnSpc>
                <a:spcPct val="100000"/>
              </a:lnSpc>
              <a:spcBef>
                <a:spcPts val="400"/>
              </a:spcBef>
            </a:pPr>
            <a:r>
              <a:rPr sz="1500" b="1" i="0" lang="ar-EG">
                <a:solidFill>
                  <a:srgbClr val="1B5E20"/>
                </a:solidFill>
                <a:latin typeface="Cairo"/>
                <a:cs typeface="Cairo"/>
              </a:rPr>
              <a:t>~ ١٨٬٠٠٠ ج.م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51560" y="4919472"/>
            <a:ext cx="3246120" cy="749808"/>
          </a:xfrm>
          <a:prstGeom prst="rect">
            <a:avLst/>
          </a:prstGeom>
          <a:solidFill>
            <a:srgbClr val="F7F4EA"/>
          </a:solidFill>
          <a:ln w="15875">
            <a:solidFill>
              <a:srgbClr val="10283F"/>
            </a:solidFill>
          </a:ln>
        </p:spPr>
        <p:txBody>
          <a:bodyPr rtlCol="0" anchor="ctr" wrap="square" lIns="54864" tIns="36576" rIns="54864" bIns="36576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900" b="1" i="0" lang="ar-EG">
                <a:solidFill>
                  <a:srgbClr val="68727B"/>
                </a:solidFill>
                <a:latin typeface="Cairo"/>
                <a:cs typeface="Cairo"/>
              </a:rPr>
              <a:t>الورق والمياه التي تم إنقاذها (⁦Green ROI⁩)</a:t>
            </a:r>
          </a:p>
          <a:p>
            <a:pPr algn="ctr" rtl="1">
              <a:lnSpc>
                <a:spcPct val="100000"/>
              </a:lnSpc>
              <a:spcBef>
                <a:spcPts val="400"/>
              </a:spcBef>
            </a:pPr>
            <a:r>
              <a:rPr sz="1300" b="1" i="0" lang="ar-EG">
                <a:solidFill>
                  <a:srgbClr val="0C2237"/>
                </a:solidFill>
                <a:latin typeface="Cairo"/>
                <a:cs typeface="Cairo"/>
              </a:rPr>
              <a:t>٥٠٬٠٠٠ ورقة · ٥٠٠ كجم كربون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68680" y="5961888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39" name="Rectangle 38"/>
          <p:cNvSpPr/>
          <p:nvPr/>
        </p:nvSpPr>
        <p:spPr>
          <a:xfrm>
            <a:off x="4023360" y="60350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مؤشر الاستدامة: </a:t>
            </a:r>
            <a:r>
              <a:rPr sz="850" b="1" i="0" lang="en-US">
                <a:solidFill>
                  <a:srgbClr val="0C2237"/>
                </a:solidFill>
                <a:latin typeface="Courier New"/>
                <a:cs typeface="Courier New"/>
              </a:rPr>
              <a:t>⁦Green Tech + Cost Reduction &gt; 85% + Zero Counting Latency⁩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8680" y="6035040"/>
            <a:ext cx="315468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l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الشريحة </a:t>
            </a:r>
            <a:r>
              <a:rPr sz="850" b="1" i="0" lang="ar-EG">
                <a:solidFill>
                  <a:srgbClr val="0C2237"/>
                </a:solidFill>
                <a:latin typeface="Cairo"/>
                <a:cs typeface="Cairo"/>
              </a:rPr>
              <a:t>⁦08⁩ من ⁦12⁩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7784" y="484632"/>
            <a:ext cx="11430000" cy="6217920"/>
          </a:xfrm>
          <a:prstGeom prst="rect">
            <a:avLst/>
          </a:prstGeom>
          <a:solidFill>
            <a:srgbClr val="58D5CC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9204" y="425196"/>
            <a:ext cx="11430000" cy="62179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310896"/>
            <a:ext cx="11430000" cy="6217920"/>
          </a:xfrm>
          <a:prstGeom prst="rect">
            <a:avLst/>
          </a:prstGeom>
          <a:solidFill>
            <a:srgbClr val="FBF9F1"/>
          </a:solidFill>
          <a:ln w="38100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438912"/>
            <a:ext cx="11173968" cy="5961888"/>
          </a:xfrm>
          <a:prstGeom prst="rect">
            <a:avLst/>
          </a:prstGeom>
          <a:noFill/>
          <a:ln w="12700">
            <a:solidFill>
              <a:srgbClr val="C3C7CA"/>
            </a:solidFill>
            <a:prstDash val="dash"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10312"/>
            <a:ext cx="2189225" cy="2743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173736"/>
            <a:ext cx="2189225" cy="274320"/>
          </a:xfrm>
          <a:prstGeom prst="rect">
            <a:avLst/>
          </a:prstGeom>
          <a:solidFill>
            <a:srgbClr val="FF4453"/>
          </a:solidFill>
          <a:ln w="19050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50" b="1" i="0" lang="en-US">
                <a:solidFill>
                  <a:srgbClr val="FFFFFF"/>
                </a:solidFill>
                <a:latin typeface="Courier New"/>
                <a:cs typeface="Courier New"/>
              </a:rPr>
              <a:t>SLIDE 09 // DIRECT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566928"/>
            <a:ext cx="2407920" cy="256032"/>
          </a:xfrm>
          <a:prstGeom prst="rect">
            <a:avLst/>
          </a:prstGeom>
          <a:solidFill>
            <a:srgbClr val="ECEEEF"/>
          </a:solidFill>
          <a:ln w="9525">
            <a:solidFill>
              <a:srgbClr val="B8C0C6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00" b="1" i="0" lang="en-US">
                <a:solidFill>
                  <a:srgbClr val="10283F"/>
                </a:solidFill>
                <a:latin typeface="Courier New"/>
                <a:cs typeface="Courier New"/>
              </a:rPr>
              <a:t>TRADITIONAL PAPER VS. SOOT-MAWATHAQ</a:t>
            </a:r>
          </a:p>
        </p:txBody>
      </p:sp>
      <p:sp>
        <p:nvSpPr>
          <p:cNvPr id="9" name="Oval 8"/>
          <p:cNvSpPr/>
          <p:nvPr/>
        </p:nvSpPr>
        <p:spPr>
          <a:xfrm>
            <a:off x="11219688" y="640080"/>
            <a:ext cx="118872" cy="118872"/>
          </a:xfrm>
          <a:prstGeom prst="ellipse">
            <a:avLst/>
          </a:prstGeom>
          <a:solidFill>
            <a:srgbClr val="43BF86"/>
          </a:solidFill>
          <a:ln w="15240">
            <a:solidFill>
              <a:srgbClr val="10283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59480" y="530352"/>
            <a:ext cx="7641336" cy="32918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1050" b="1" i="0" lang="ar-EG">
                <a:solidFill>
                  <a:srgbClr val="10283F"/>
                </a:solidFill>
                <a:latin typeface="Cairo"/>
                <a:cs typeface="Cairo"/>
              </a:rPr>
              <a:t>المقارنة المعمارية المباشرة (⁦Comparative Matrix⁩)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950976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12" name="Rectangle 11"/>
          <p:cNvSpPr/>
          <p:nvPr/>
        </p:nvSpPr>
        <p:spPr>
          <a:xfrm>
            <a:off x="10549890" y="1042415"/>
            <a:ext cx="788669" cy="256032"/>
          </a:xfrm>
          <a:prstGeom prst="rect">
            <a:avLst/>
          </a:prstGeom>
          <a:solidFill>
            <a:srgbClr val="0C2237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BENCHMARK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95410" y="1042415"/>
            <a:ext cx="1554480" cy="256032"/>
          </a:xfrm>
          <a:prstGeom prst="rect">
            <a:avLst/>
          </a:prstGeom>
          <a:solidFill>
            <a:srgbClr val="E6BD5D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0C2237"/>
                </a:solidFill>
                <a:latin typeface="Cairo"/>
                <a:cs typeface="Cairo"/>
              </a:rPr>
              <a:t>مصفوفة المقارنة المباشرة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1042415"/>
            <a:ext cx="1360170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4453"/>
                </a:solidFill>
                <a:latin typeface="Courier New"/>
                <a:cs typeface="Courier New"/>
              </a:rPr>
              <a:t>HEAD-TO-HEAD MATRIX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1371600"/>
            <a:ext cx="10469880" cy="566928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08000"/>
              </a:lnSpc>
            </a:pPr>
            <a:r>
              <a:rPr sz="2600" b="1" i="0" lang="ar-EG">
                <a:solidFill>
                  <a:srgbClr val="10283F"/>
                </a:solidFill>
                <a:latin typeface="Cairo"/>
                <a:cs typeface="Cairo"/>
              </a:rPr>
              <a:t>مقارنة شاملة: </a:t>
            </a:r>
            <a:r>
              <a:rPr sz="2600" b="1" i="0" lang="ar-EG">
                <a:solidFill>
                  <a:srgbClr val="FF4453"/>
                </a:solidFill>
                <a:latin typeface="Cairo"/>
                <a:cs typeface="Cairo"/>
              </a:rPr>
              <a:t>الاقتراع الورقي مقابل منظومة «صوت موثّق»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1938528"/>
          <a:ext cx="10469880" cy="3675888"/>
        </p:xfrm>
        <a:graphic>
          <a:graphicData uri="http://schemas.openxmlformats.org/drawingml/2006/table">
            <a:tbl>
              <a:tblPr rtl="1">
                <a:tableStyleId>{5C22544A-7EE6-4342-B048-85BDC9FD1C3A}</a:tableStyleId>
              </a:tblPr>
              <a:tblGrid>
                <a:gridCol w="2331720"/>
                <a:gridCol w="3840480"/>
                <a:gridCol w="4297680"/>
              </a:tblGrid>
              <a:tr h="384048">
                <a:tc>
                  <a:txBody>
                    <a:bodyPr wrap="square"/>
                    <a:lstStyle/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sz="1150" b="1" i="0" lang="ar-EG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وجه المقارنة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0283F"/>
                      </a:solidFill>
                      <a:prstDash val="solid"/>
                    </a:lnL>
                    <a:lnR w="12700" cap="flat" cmpd="sng" algn="ctr">
                      <a:solidFill>
                        <a:srgbClr val="10283F"/>
                      </a:solidFill>
                      <a:prstDash val="solid"/>
                    </a:lnR>
                    <a:lnT w="12700" cap="flat" cmpd="sng" algn="ctr">
                      <a:solidFill>
                        <a:srgbClr val="10283F"/>
                      </a:solidFill>
                      <a:prstDash val="solid"/>
                    </a:lnT>
                    <a:lnB w="12700" cap="flat" cmpd="sng" algn="ctr">
                      <a:solidFill>
                        <a:srgbClr val="10283F"/>
                      </a:solidFill>
                      <a:prstDash val="solid"/>
                    </a:lnB>
                    <a:solidFill>
                      <a:srgbClr val="0C223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sz="1150" b="1" i="0" lang="ar-EG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الاقتراع الورقي التقليدي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0283F"/>
                      </a:solidFill>
                      <a:prstDash val="solid"/>
                    </a:lnL>
                    <a:lnR w="12700" cap="flat" cmpd="sng" algn="ctr">
                      <a:solidFill>
                        <a:srgbClr val="10283F"/>
                      </a:solidFill>
                      <a:prstDash val="solid"/>
                    </a:lnR>
                    <a:lnT w="12700" cap="flat" cmpd="sng" algn="ctr">
                      <a:solidFill>
                        <a:srgbClr val="10283F"/>
                      </a:solidFill>
                      <a:prstDash val="solid"/>
                    </a:lnT>
                    <a:lnB w="12700" cap="flat" cmpd="sng" algn="ctr">
                      <a:solidFill>
                        <a:srgbClr val="10283F"/>
                      </a:solidFill>
                      <a:prstDash val="solid"/>
                    </a:lnB>
                    <a:solidFill>
                      <a:srgbClr val="0C223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sz="1150" b="1" i="0" lang="ar-EG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منظومة «صوت موثّق» (⁦Soot-Mawathaq⁩)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0283F"/>
                      </a:solidFill>
                      <a:prstDash val="solid"/>
                    </a:lnL>
                    <a:lnR w="12700" cap="flat" cmpd="sng" algn="ctr">
                      <a:solidFill>
                        <a:srgbClr val="10283F"/>
                      </a:solidFill>
                      <a:prstDash val="solid"/>
                    </a:lnR>
                    <a:lnT w="12700" cap="flat" cmpd="sng" algn="ctr">
                      <a:solidFill>
                        <a:srgbClr val="10283F"/>
                      </a:solidFill>
                      <a:prstDash val="solid"/>
                    </a:lnT>
                    <a:lnB w="12700" cap="flat" cmpd="sng" algn="ctr">
                      <a:solidFill>
                        <a:srgbClr val="10283F"/>
                      </a:solidFill>
                      <a:prstDash val="solid"/>
                    </a:lnB>
                    <a:solidFill>
                      <a:srgbClr val="0C223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r" rtl="1">
                        <a:lnSpc>
                          <a:spcPct val="115000"/>
                        </a:lnSpc>
                      </a:pPr>
                      <a:r>
                        <a:rPr sz="1100" b="1" i="0" lang="ar-EG">
                          <a:solidFill>
                            <a:srgbClr val="10283F"/>
                          </a:solidFill>
                          <a:latin typeface="Cairo"/>
                          <a:cs typeface="Cairo"/>
                        </a:rPr>
                        <a:t>التحقق من الهوية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0283F"/>
                      </a:solidFill>
                      <a:prstDash val="solid"/>
                    </a:lnL>
                    <a:lnR w="12700" cap="flat" cmpd="sng" algn="ctr">
                      <a:solidFill>
                        <a:srgbClr val="10283F"/>
                      </a:solidFill>
                      <a:prstDash val="solid"/>
                    </a:lnR>
                    <a:lnT w="12700" cap="flat" cmpd="sng" algn="ctr">
                      <a:solidFill>
                        <a:srgbClr val="10283F"/>
                      </a:solidFill>
                      <a:prstDash val="solid"/>
                    </a:lnT>
                    <a:lnB w="12700" cap="flat" cmpd="sng" algn="ctr">
                      <a:solidFill>
                        <a:srgbClr val="10283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>
                        <a:lnSpc>
                          <a:spcPct val="115000"/>
                        </a:lnSpc>
                      </a:pPr>
                      <a:r>
                        <a:rPr sz="1100" b="1" i="0" lang="ar-EG">
                          <a:solidFill>
                            <a:srgbClr val="B71C1C"/>
                          </a:solidFill>
                          <a:latin typeface="Cairo"/>
                          <a:cs typeface="Cairo"/>
                        </a:rPr>
                        <a:t>بصري يدوي بالعين المجردة (عرضة للتزوير والتساهل)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0283F"/>
                      </a:solidFill>
                      <a:prstDash val="solid"/>
                    </a:lnL>
                    <a:lnR w="12700" cap="flat" cmpd="sng" algn="ctr">
                      <a:solidFill>
                        <a:srgbClr val="10283F"/>
                      </a:solidFill>
                      <a:prstDash val="solid"/>
                    </a:lnR>
                    <a:lnT w="12700" cap="flat" cmpd="sng" algn="ctr">
                      <a:solidFill>
                        <a:srgbClr val="10283F"/>
                      </a:solidFill>
                      <a:prstDash val="solid"/>
                    </a:lnT>
                    <a:lnB w="12700" cap="flat" cmpd="sng" algn="ctr">
                      <a:solidFill>
                        <a:srgbClr val="10283F"/>
                      </a:solidFill>
                      <a:prstDash val="soli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>
                        <a:lnSpc>
                          <a:spcPct val="115000"/>
                        </a:lnSpc>
                      </a:pPr>
                      <a:r>
                        <a:rPr sz="1100" b="1" i="0" lang="ar-EG">
                          <a:solidFill>
                            <a:srgbClr val="1B5E20"/>
                          </a:solidFill>
                          <a:latin typeface="Cairo"/>
                          <a:cs typeface="Cairo"/>
                        </a:rPr>
                        <a:t>بيومتري عصبي ⁦128-D⁩ فوري + كشف حيوية متعدد المستويات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0283F"/>
                      </a:solidFill>
                      <a:prstDash val="solid"/>
                    </a:lnL>
                    <a:lnR w="12700" cap="flat" cmpd="sng" algn="ctr">
                      <a:solidFill>
                        <a:srgbClr val="10283F"/>
                      </a:solidFill>
                      <a:prstDash val="solid"/>
                    </a:lnR>
                    <a:lnT w="12700" cap="flat" cmpd="sng" algn="ctr">
                      <a:solidFill>
                        <a:srgbClr val="10283F"/>
                      </a:solidFill>
                      <a:prstDash val="solid"/>
                    </a:lnT>
                    <a:lnB w="12700" cap="flat" cmpd="sng" algn="ctr">
                      <a:solidFill>
                        <a:srgbClr val="10283F"/>
                      </a:solidFill>
                      <a:prstDash val="solid"/>
                    </a:lnB>
                    <a:solidFill>
                      <a:srgbClr val="E8F5E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r" rtl="1">
                        <a:lnSpc>
                          <a:spcPct val="115000"/>
                        </a:lnSpc>
                      </a:pPr>
                      <a:r>
                        <a:rPr sz="1100" b="1" i="0" lang="ar-EG">
                          <a:solidFill>
                            <a:srgbClr val="10283F"/>
                          </a:solidFill>
                          <a:latin typeface="Cairo"/>
                          <a:cs typeface="Cairo"/>
                        </a:rPr>
                        <a:t>منع تكرار التصويت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0283F"/>
                      </a:solidFill>
                      <a:prstDash val="solid"/>
                    </a:lnL>
                    <a:lnR w="12700" cap="flat" cmpd="sng" algn="ctr">
                      <a:solidFill>
                        <a:srgbClr val="10283F"/>
                      </a:solidFill>
                      <a:prstDash val="solid"/>
                    </a:lnR>
                    <a:lnT w="12700" cap="flat" cmpd="sng" algn="ctr">
                      <a:solidFill>
                        <a:srgbClr val="10283F"/>
                      </a:solidFill>
                      <a:prstDash val="solid"/>
                    </a:lnT>
                    <a:lnB w="12700" cap="flat" cmpd="sng" algn="ctr">
                      <a:solidFill>
                        <a:srgbClr val="10283F"/>
                      </a:solidFill>
                      <a:prstDash val="solid"/>
                    </a:lnB>
                    <a:solidFill>
                      <a:srgbClr val="FAF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>
                        <a:lnSpc>
                          <a:spcPct val="115000"/>
                        </a:lnSpc>
                      </a:pPr>
                      <a:r>
                        <a:rPr sz="1100" b="1" i="0" lang="ar-EG">
                          <a:solidFill>
                            <a:srgbClr val="B71C1C"/>
                          </a:solidFill>
                          <a:latin typeface="Cairo"/>
                          <a:cs typeface="Cairo"/>
                        </a:rPr>
                        <a:t>حبر فسفوري يزول بالمواد الكيميائية وغياب ربط اللجان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0283F"/>
                      </a:solidFill>
                      <a:prstDash val="solid"/>
                    </a:lnL>
                    <a:lnR w="12700" cap="flat" cmpd="sng" algn="ctr">
                      <a:solidFill>
                        <a:srgbClr val="10283F"/>
                      </a:solidFill>
                      <a:prstDash val="solid"/>
                    </a:lnR>
                    <a:lnT w="12700" cap="flat" cmpd="sng" algn="ctr">
                      <a:solidFill>
                        <a:srgbClr val="10283F"/>
                      </a:solidFill>
                      <a:prstDash val="solid"/>
                    </a:lnT>
                    <a:lnB w="12700" cap="flat" cmpd="sng" algn="ctr">
                      <a:solidFill>
                        <a:srgbClr val="10283F"/>
                      </a:solidFill>
                      <a:prstDash val="soli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>
                        <a:lnSpc>
                          <a:spcPct val="115000"/>
                        </a:lnSpc>
                      </a:pPr>
                      <a:r>
                        <a:rPr sz="1100" b="1" i="0" lang="ar-EG">
                          <a:solidFill>
                            <a:srgbClr val="1B5E20"/>
                          </a:solidFill>
                          <a:latin typeface="Cairo"/>
                          <a:cs typeface="Cairo"/>
                        </a:rPr>
                        <a:t>قفل تشفيري لحظي مركزي في قاعدة البيانات بالرقم القومي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0283F"/>
                      </a:solidFill>
                      <a:prstDash val="solid"/>
                    </a:lnL>
                    <a:lnR w="12700" cap="flat" cmpd="sng" algn="ctr">
                      <a:solidFill>
                        <a:srgbClr val="10283F"/>
                      </a:solidFill>
                      <a:prstDash val="solid"/>
                    </a:lnR>
                    <a:lnT w="12700" cap="flat" cmpd="sng" algn="ctr">
                      <a:solidFill>
                        <a:srgbClr val="10283F"/>
                      </a:solidFill>
                      <a:prstDash val="solid"/>
                    </a:lnT>
                    <a:lnB w="12700" cap="flat" cmpd="sng" algn="ctr">
                      <a:solidFill>
                        <a:srgbClr val="10283F"/>
                      </a:solidFill>
                      <a:prstDash val="solid"/>
                    </a:lnB>
                    <a:solidFill>
                      <a:srgbClr val="E8F5E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r" rtl="1">
                        <a:lnSpc>
                          <a:spcPct val="115000"/>
                        </a:lnSpc>
                      </a:pPr>
                      <a:r>
                        <a:rPr sz="1100" b="1" i="0" lang="ar-EG">
                          <a:solidFill>
                            <a:srgbClr val="10283F"/>
                          </a:solidFill>
                          <a:latin typeface="Cairo"/>
                          <a:cs typeface="Cairo"/>
                        </a:rPr>
                        <a:t>سرية الاقتراع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0283F"/>
                      </a:solidFill>
                      <a:prstDash val="solid"/>
                    </a:lnL>
                    <a:lnR w="12700" cap="flat" cmpd="sng" algn="ctr">
                      <a:solidFill>
                        <a:srgbClr val="10283F"/>
                      </a:solidFill>
                      <a:prstDash val="solid"/>
                    </a:lnR>
                    <a:lnT w="12700" cap="flat" cmpd="sng" algn="ctr">
                      <a:solidFill>
                        <a:srgbClr val="10283F"/>
                      </a:solidFill>
                      <a:prstDash val="solid"/>
                    </a:lnT>
                    <a:lnB w="12700" cap="flat" cmpd="sng" algn="ctr">
                      <a:solidFill>
                        <a:srgbClr val="10283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>
                        <a:lnSpc>
                          <a:spcPct val="115000"/>
                        </a:lnSpc>
                      </a:pPr>
                      <a:r>
                        <a:rPr sz="1100" b="1" i="0" lang="ar-EG">
                          <a:solidFill>
                            <a:srgbClr val="B71C1C"/>
                          </a:solidFill>
                          <a:latin typeface="Cairo"/>
                          <a:cs typeface="Cairo"/>
                        </a:rPr>
                        <a:t>صناديق شفافة أو كبائن قد تتعرض للتجسس أو الإكراه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0283F"/>
                      </a:solidFill>
                      <a:prstDash val="solid"/>
                    </a:lnL>
                    <a:lnR w="12700" cap="flat" cmpd="sng" algn="ctr">
                      <a:solidFill>
                        <a:srgbClr val="10283F"/>
                      </a:solidFill>
                      <a:prstDash val="solid"/>
                    </a:lnR>
                    <a:lnT w="12700" cap="flat" cmpd="sng" algn="ctr">
                      <a:solidFill>
                        <a:srgbClr val="10283F"/>
                      </a:solidFill>
                      <a:prstDash val="solid"/>
                    </a:lnT>
                    <a:lnB w="12700" cap="flat" cmpd="sng" algn="ctr">
                      <a:solidFill>
                        <a:srgbClr val="10283F"/>
                      </a:solidFill>
                      <a:prstDash val="soli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>
                        <a:lnSpc>
                          <a:spcPct val="115000"/>
                        </a:lnSpc>
                      </a:pPr>
                      <a:r>
                        <a:rPr sz="1100" b="1" i="0" lang="ar-EG">
                          <a:solidFill>
                            <a:srgbClr val="1B5E20"/>
                          </a:solidFill>
                          <a:latin typeface="Cairo"/>
                          <a:cs typeface="Cairo"/>
                        </a:rPr>
                        <a:t>معمارية ⁦Zero-Link⁩ تفصل هوية الناخب عن الصوت رياضيًا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0283F"/>
                      </a:solidFill>
                      <a:prstDash val="solid"/>
                    </a:lnL>
                    <a:lnR w="12700" cap="flat" cmpd="sng" algn="ctr">
                      <a:solidFill>
                        <a:srgbClr val="10283F"/>
                      </a:solidFill>
                      <a:prstDash val="solid"/>
                    </a:lnR>
                    <a:lnT w="12700" cap="flat" cmpd="sng" algn="ctr">
                      <a:solidFill>
                        <a:srgbClr val="10283F"/>
                      </a:solidFill>
                      <a:prstDash val="solid"/>
                    </a:lnT>
                    <a:lnB w="12700" cap="flat" cmpd="sng" algn="ctr">
                      <a:solidFill>
                        <a:srgbClr val="10283F"/>
                      </a:solidFill>
                      <a:prstDash val="solid"/>
                    </a:lnB>
                    <a:solidFill>
                      <a:srgbClr val="E8F5E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r" rtl="1">
                        <a:lnSpc>
                          <a:spcPct val="115000"/>
                        </a:lnSpc>
                      </a:pPr>
                      <a:r>
                        <a:rPr sz="1100" b="1" i="0" lang="ar-EG">
                          <a:solidFill>
                            <a:srgbClr val="10283F"/>
                          </a:solidFill>
                          <a:latin typeface="Cairo"/>
                          <a:cs typeface="Cairo"/>
                        </a:rPr>
                        <a:t>زمن إعلان النتائج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0283F"/>
                      </a:solidFill>
                      <a:prstDash val="solid"/>
                    </a:lnL>
                    <a:lnR w="12700" cap="flat" cmpd="sng" algn="ctr">
                      <a:solidFill>
                        <a:srgbClr val="10283F"/>
                      </a:solidFill>
                      <a:prstDash val="solid"/>
                    </a:lnR>
                    <a:lnT w="12700" cap="flat" cmpd="sng" algn="ctr">
                      <a:solidFill>
                        <a:srgbClr val="10283F"/>
                      </a:solidFill>
                      <a:prstDash val="solid"/>
                    </a:lnT>
                    <a:lnB w="12700" cap="flat" cmpd="sng" algn="ctr">
                      <a:solidFill>
                        <a:srgbClr val="10283F"/>
                      </a:solidFill>
                      <a:prstDash val="solid"/>
                    </a:lnB>
                    <a:solidFill>
                      <a:srgbClr val="FAF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>
                        <a:lnSpc>
                          <a:spcPct val="115000"/>
                        </a:lnSpc>
                      </a:pPr>
                      <a:r>
                        <a:rPr sz="1100" b="1" i="0" lang="ar-EG">
                          <a:solidFill>
                            <a:srgbClr val="B71C1C"/>
                          </a:solidFill>
                          <a:latin typeface="Cairo"/>
                          <a:cs typeface="Cairo"/>
                        </a:rPr>
                        <a:t>من ⁦6⁩ إلى ⁦24⁩ ساعة من الفرز اليدوي المرهق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0283F"/>
                      </a:solidFill>
                      <a:prstDash val="solid"/>
                    </a:lnL>
                    <a:lnR w="12700" cap="flat" cmpd="sng" algn="ctr">
                      <a:solidFill>
                        <a:srgbClr val="10283F"/>
                      </a:solidFill>
                      <a:prstDash val="solid"/>
                    </a:lnR>
                    <a:lnT w="12700" cap="flat" cmpd="sng" algn="ctr">
                      <a:solidFill>
                        <a:srgbClr val="10283F"/>
                      </a:solidFill>
                      <a:prstDash val="solid"/>
                    </a:lnT>
                    <a:lnB w="12700" cap="flat" cmpd="sng" algn="ctr">
                      <a:solidFill>
                        <a:srgbClr val="10283F"/>
                      </a:solidFill>
                      <a:prstDash val="soli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>
                        <a:lnSpc>
                          <a:spcPct val="115000"/>
                        </a:lnSpc>
                      </a:pPr>
                      <a:r>
                        <a:rPr sz="1100" b="1" i="0" lang="ar-EG">
                          <a:solidFill>
                            <a:srgbClr val="1B5E20"/>
                          </a:solidFill>
                          <a:latin typeface="Cairo"/>
                          <a:cs typeface="Cairo"/>
                        </a:rPr>
                        <a:t>فرز لحظي فوري (⁦0.1⁩ ثانية) مع رسوم بيانية حية ومفتوحة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0283F"/>
                      </a:solidFill>
                      <a:prstDash val="solid"/>
                    </a:lnL>
                    <a:lnR w="12700" cap="flat" cmpd="sng" algn="ctr">
                      <a:solidFill>
                        <a:srgbClr val="10283F"/>
                      </a:solidFill>
                      <a:prstDash val="solid"/>
                    </a:lnR>
                    <a:lnT w="12700" cap="flat" cmpd="sng" algn="ctr">
                      <a:solidFill>
                        <a:srgbClr val="10283F"/>
                      </a:solidFill>
                      <a:prstDash val="solid"/>
                    </a:lnT>
                    <a:lnB w="12700" cap="flat" cmpd="sng" algn="ctr">
                      <a:solidFill>
                        <a:srgbClr val="10283F"/>
                      </a:solidFill>
                      <a:prstDash val="solid"/>
                    </a:lnB>
                    <a:solidFill>
                      <a:srgbClr val="E8F5E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r" rtl="1">
                        <a:lnSpc>
                          <a:spcPct val="115000"/>
                        </a:lnSpc>
                      </a:pPr>
                      <a:r>
                        <a:rPr sz="1100" b="1" i="0" lang="ar-EG">
                          <a:solidFill>
                            <a:srgbClr val="10283F"/>
                          </a:solidFill>
                          <a:latin typeface="Cairo"/>
                          <a:cs typeface="Cairo"/>
                        </a:rPr>
                        <a:t>إمكانية تدقيق الناخب لصوته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0283F"/>
                      </a:solidFill>
                      <a:prstDash val="solid"/>
                    </a:lnL>
                    <a:lnR w="12700" cap="flat" cmpd="sng" algn="ctr">
                      <a:solidFill>
                        <a:srgbClr val="10283F"/>
                      </a:solidFill>
                      <a:prstDash val="solid"/>
                    </a:lnR>
                    <a:lnT w="12700" cap="flat" cmpd="sng" algn="ctr">
                      <a:solidFill>
                        <a:srgbClr val="10283F"/>
                      </a:solidFill>
                      <a:prstDash val="solid"/>
                    </a:lnT>
                    <a:lnB w="12700" cap="flat" cmpd="sng" algn="ctr">
                      <a:solidFill>
                        <a:srgbClr val="10283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>
                        <a:lnSpc>
                          <a:spcPct val="115000"/>
                        </a:lnSpc>
                      </a:pPr>
                      <a:r>
                        <a:rPr sz="1100" b="1" i="0" lang="ar-EG">
                          <a:solidFill>
                            <a:srgbClr val="B71C1C"/>
                          </a:solidFill>
                          <a:latin typeface="Cairo"/>
                          <a:cs typeface="Cairo"/>
                        </a:rPr>
                        <a:t>مستحيل (بمجرد إسقاط الورقة لا يعلم هل احتسبت)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0283F"/>
                      </a:solidFill>
                      <a:prstDash val="solid"/>
                    </a:lnL>
                    <a:lnR w="12700" cap="flat" cmpd="sng" algn="ctr">
                      <a:solidFill>
                        <a:srgbClr val="10283F"/>
                      </a:solidFill>
                      <a:prstDash val="solid"/>
                    </a:lnR>
                    <a:lnT w="12700" cap="flat" cmpd="sng" algn="ctr">
                      <a:solidFill>
                        <a:srgbClr val="10283F"/>
                      </a:solidFill>
                      <a:prstDash val="solid"/>
                    </a:lnT>
                    <a:lnB w="12700" cap="flat" cmpd="sng" algn="ctr">
                      <a:solidFill>
                        <a:srgbClr val="10283F"/>
                      </a:solidFill>
                      <a:prstDash val="soli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>
                        <a:lnSpc>
                          <a:spcPct val="115000"/>
                        </a:lnSpc>
                      </a:pPr>
                      <a:r>
                        <a:rPr sz="1100" b="1" i="0" lang="ar-EG">
                          <a:solidFill>
                            <a:srgbClr val="1B5E20"/>
                          </a:solidFill>
                          <a:latin typeface="Cairo"/>
                          <a:cs typeface="Cairo"/>
                        </a:rPr>
                        <a:t>إيصال تحقق مشفر (⁦Cryptographic Receipt⁩) لفحص وجود الصوت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0283F"/>
                      </a:solidFill>
                      <a:prstDash val="solid"/>
                    </a:lnL>
                    <a:lnR w="12700" cap="flat" cmpd="sng" algn="ctr">
                      <a:solidFill>
                        <a:srgbClr val="10283F"/>
                      </a:solidFill>
                      <a:prstDash val="solid"/>
                    </a:lnR>
                    <a:lnT w="12700" cap="flat" cmpd="sng" algn="ctr">
                      <a:solidFill>
                        <a:srgbClr val="10283F"/>
                      </a:solidFill>
                      <a:prstDash val="solid"/>
                    </a:lnT>
                    <a:lnB w="12700" cap="flat" cmpd="sng" algn="ctr">
                      <a:solidFill>
                        <a:srgbClr val="10283F"/>
                      </a:solidFill>
                      <a:prstDash val="solid"/>
                    </a:lnB>
                    <a:solidFill>
                      <a:srgbClr val="E8F5E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r" rtl="1">
                        <a:lnSpc>
                          <a:spcPct val="115000"/>
                        </a:lnSpc>
                      </a:pPr>
                      <a:r>
                        <a:rPr sz="1100" b="1" i="0" lang="ar-EG">
                          <a:solidFill>
                            <a:srgbClr val="10283F"/>
                          </a:solidFill>
                          <a:latin typeface="Cairo"/>
                          <a:cs typeface="Cairo"/>
                        </a:rPr>
                        <a:t>التكلفة والأثر البيئي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0283F"/>
                      </a:solidFill>
                      <a:prstDash val="solid"/>
                    </a:lnL>
                    <a:lnR w="12700" cap="flat" cmpd="sng" algn="ctr">
                      <a:solidFill>
                        <a:srgbClr val="10283F"/>
                      </a:solidFill>
                      <a:prstDash val="solid"/>
                    </a:lnR>
                    <a:lnT w="12700" cap="flat" cmpd="sng" algn="ctr">
                      <a:solidFill>
                        <a:srgbClr val="10283F"/>
                      </a:solidFill>
                      <a:prstDash val="solid"/>
                    </a:lnT>
                    <a:lnB w="12700" cap="flat" cmpd="sng" algn="ctr">
                      <a:solidFill>
                        <a:srgbClr val="10283F"/>
                      </a:solidFill>
                      <a:prstDash val="solid"/>
                    </a:lnB>
                    <a:solidFill>
                      <a:srgbClr val="FAF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>
                        <a:lnSpc>
                          <a:spcPct val="115000"/>
                        </a:lnSpc>
                      </a:pPr>
                      <a:r>
                        <a:rPr sz="1100" b="1" i="0" lang="ar-EG">
                          <a:solidFill>
                            <a:srgbClr val="B71C1C"/>
                          </a:solidFill>
                          <a:latin typeface="Cairo"/>
                          <a:cs typeface="Cairo"/>
                        </a:rPr>
                        <a:t>باهظة جداً + أطنان من الأوراق ومخلفات ضارة بالبيئة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0283F"/>
                      </a:solidFill>
                      <a:prstDash val="solid"/>
                    </a:lnL>
                    <a:lnR w="12700" cap="flat" cmpd="sng" algn="ctr">
                      <a:solidFill>
                        <a:srgbClr val="10283F"/>
                      </a:solidFill>
                      <a:prstDash val="solid"/>
                    </a:lnR>
                    <a:lnT w="12700" cap="flat" cmpd="sng" algn="ctr">
                      <a:solidFill>
                        <a:srgbClr val="10283F"/>
                      </a:solidFill>
                      <a:prstDash val="solid"/>
                    </a:lnT>
                    <a:lnB w="12700" cap="flat" cmpd="sng" algn="ctr">
                      <a:solidFill>
                        <a:srgbClr val="10283F"/>
                      </a:solidFill>
                      <a:prstDash val="soli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rtl="1">
                        <a:lnSpc>
                          <a:spcPct val="115000"/>
                        </a:lnSpc>
                      </a:pPr>
                      <a:r>
                        <a:rPr sz="1100" b="1" i="0" lang="ar-EG">
                          <a:solidFill>
                            <a:srgbClr val="1B5E20"/>
                          </a:solidFill>
                          <a:latin typeface="Cairo"/>
                          <a:cs typeface="Cairo"/>
                        </a:rPr>
                        <a:t>توفير ⁦85%⁩+ من الميزانية و⁦Zero-Paper⁩ خضراء مستدامة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0283F"/>
                      </a:solidFill>
                      <a:prstDash val="solid"/>
                    </a:lnL>
                    <a:lnR w="12700" cap="flat" cmpd="sng" algn="ctr">
                      <a:solidFill>
                        <a:srgbClr val="10283F"/>
                      </a:solidFill>
                      <a:prstDash val="solid"/>
                    </a:lnR>
                    <a:lnT w="12700" cap="flat" cmpd="sng" algn="ctr">
                      <a:solidFill>
                        <a:srgbClr val="10283F"/>
                      </a:solidFill>
                      <a:prstDash val="solid"/>
                    </a:lnT>
                    <a:lnB w="12700" cap="flat" cmpd="sng" algn="ctr">
                      <a:solidFill>
                        <a:srgbClr val="10283F"/>
                      </a:solidFill>
                      <a:prstDash val="soli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cxnSp>
        <p:nvCxnSpPr>
          <p:cNvPr id="17" name="Connector 16"/>
          <p:cNvCxnSpPr/>
          <p:nvPr/>
        </p:nvCxnSpPr>
        <p:spPr>
          <a:xfrm>
            <a:off x="868680" y="5961888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18" name="Rectangle 17"/>
          <p:cNvSpPr/>
          <p:nvPr/>
        </p:nvSpPr>
        <p:spPr>
          <a:xfrm>
            <a:off x="4023360" y="60350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المعيار: </a:t>
            </a:r>
            <a:r>
              <a:rPr sz="850" b="1" i="0" lang="ar-EG">
                <a:solidFill>
                  <a:srgbClr val="0C2237"/>
                </a:solidFill>
                <a:latin typeface="Cairo"/>
                <a:cs typeface="Cairo"/>
              </a:rPr>
              <a:t>تطبيق المعايير الدولية للاقتراع الموثوق (⁦E2E Verifiable Voting⁩)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6035040"/>
            <a:ext cx="315468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l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الشريحة </a:t>
            </a:r>
            <a:r>
              <a:rPr sz="850" b="1" i="0" lang="ar-EG">
                <a:solidFill>
                  <a:srgbClr val="0C2237"/>
                </a:solidFill>
                <a:latin typeface="Cairo"/>
                <a:cs typeface="Cairo"/>
              </a:rPr>
              <a:t>⁦09⁩ من ⁦12⁩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7784" y="484632"/>
            <a:ext cx="11430000" cy="6217920"/>
          </a:xfrm>
          <a:prstGeom prst="rect">
            <a:avLst/>
          </a:prstGeom>
          <a:solidFill>
            <a:srgbClr val="58D5CC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9204" y="425196"/>
            <a:ext cx="11430000" cy="62179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310896"/>
            <a:ext cx="11430000" cy="6217920"/>
          </a:xfrm>
          <a:prstGeom prst="rect">
            <a:avLst/>
          </a:prstGeom>
          <a:solidFill>
            <a:srgbClr val="FBF9F1"/>
          </a:solidFill>
          <a:ln w="38100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438912"/>
            <a:ext cx="11173968" cy="5961888"/>
          </a:xfrm>
          <a:prstGeom prst="rect">
            <a:avLst/>
          </a:prstGeom>
          <a:noFill/>
          <a:ln w="12700">
            <a:solidFill>
              <a:srgbClr val="C3C7CA"/>
            </a:solidFill>
            <a:prstDash val="dash"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10312"/>
            <a:ext cx="2836925" cy="2743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173736"/>
            <a:ext cx="2836925" cy="274320"/>
          </a:xfrm>
          <a:prstGeom prst="rect">
            <a:avLst/>
          </a:prstGeom>
          <a:solidFill>
            <a:srgbClr val="FF4453"/>
          </a:solidFill>
          <a:ln w="19050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50" b="1" i="0" lang="en-US">
                <a:solidFill>
                  <a:srgbClr val="FFFFFF"/>
                </a:solidFill>
                <a:latin typeface="Courier New"/>
                <a:cs typeface="Courier New"/>
              </a:rPr>
              <a:t>SLIDE 10 // STUDENT ELECTIONS 2026/2027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566928"/>
            <a:ext cx="2773679" cy="256032"/>
          </a:xfrm>
          <a:prstGeom prst="rect">
            <a:avLst/>
          </a:prstGeom>
          <a:solidFill>
            <a:srgbClr val="ECEEEF"/>
          </a:solidFill>
          <a:ln w="9525">
            <a:solidFill>
              <a:srgbClr val="B8C0C6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00" b="1" i="0" lang="en-US">
                <a:solidFill>
                  <a:srgbClr val="10283F"/>
                </a:solidFill>
                <a:latin typeface="Courier New"/>
                <a:cs typeface="Courier New"/>
              </a:rPr>
              <a:t>PILOT SCENARIO // STUDENT UNION 2026-2027</a:t>
            </a:r>
          </a:p>
        </p:txBody>
      </p:sp>
      <p:sp>
        <p:nvSpPr>
          <p:cNvPr id="9" name="Oval 8"/>
          <p:cNvSpPr/>
          <p:nvPr/>
        </p:nvSpPr>
        <p:spPr>
          <a:xfrm>
            <a:off x="11219688" y="640080"/>
            <a:ext cx="118872" cy="118872"/>
          </a:xfrm>
          <a:prstGeom prst="ellipse">
            <a:avLst/>
          </a:prstGeom>
          <a:solidFill>
            <a:srgbClr val="43BF86"/>
          </a:solidFill>
          <a:ln w="15240">
            <a:solidFill>
              <a:srgbClr val="10283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25239" y="530352"/>
            <a:ext cx="7275576" cy="32918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1050" b="1" i="0" lang="ar-EG">
                <a:solidFill>
                  <a:srgbClr val="10283F"/>
                </a:solidFill>
                <a:latin typeface="Cairo"/>
                <a:cs typeface="Cairo"/>
              </a:rPr>
              <a:t>سيناريو التطبيق: انتخابات اتحاد طلاب مدارس الجمهورية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950976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12" name="Rectangle 11"/>
          <p:cNvSpPr/>
          <p:nvPr/>
        </p:nvSpPr>
        <p:spPr>
          <a:xfrm>
            <a:off x="10206990" y="1042415"/>
            <a:ext cx="1131570" cy="256032"/>
          </a:xfrm>
          <a:prstGeom prst="rect">
            <a:avLst/>
          </a:prstGeom>
          <a:solidFill>
            <a:srgbClr val="0C2237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PILOT EXECUTION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9089" y="1042415"/>
            <a:ext cx="2247899" cy="256032"/>
          </a:xfrm>
          <a:prstGeom prst="rect">
            <a:avLst/>
          </a:prstGeom>
          <a:solidFill>
            <a:srgbClr val="E6BD5D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0C2237"/>
                </a:solidFill>
                <a:latin typeface="Cairo"/>
                <a:cs typeface="Cairo"/>
              </a:rPr>
              <a:t>التطبيق في البيئة المدرسية والتعليمية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56069" y="1042415"/>
            <a:ext cx="1303019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4453"/>
                </a:solidFill>
                <a:latin typeface="Courier New"/>
                <a:cs typeface="Courier New"/>
              </a:rPr>
              <a:t>STUDENT LEADERSHIP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1371600"/>
            <a:ext cx="10469880" cy="566928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08000"/>
              </a:lnSpc>
            </a:pPr>
            <a:r>
              <a:rPr sz="2500" b="1" i="0" lang="ar-EG">
                <a:solidFill>
                  <a:srgbClr val="10283F"/>
                </a:solidFill>
                <a:latin typeface="Cairo"/>
                <a:cs typeface="Cairo"/>
              </a:rPr>
              <a:t>البيئة الميدانية: </a:t>
            </a:r>
            <a:r>
              <a:rPr sz="2500" b="1" i="0" lang="ar-EG">
                <a:solidFill>
                  <a:srgbClr val="FF4453"/>
                </a:solidFill>
                <a:latin typeface="Cairo"/>
                <a:cs typeface="Cairo"/>
              </a:rPr>
              <a:t>انتخابات المكتب التنفيذي لاتحاد الطلاب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1920240"/>
            <a:ext cx="10469880" cy="45720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25000"/>
              </a:lnSpc>
            </a:pPr>
            <a:r>
              <a:rPr sz="1150" b="0" i="0" lang="ar-EG">
                <a:solidFill>
                  <a:srgbClr val="2B3E50"/>
                </a:solidFill>
                <a:latin typeface="Cairo"/>
                <a:cs typeface="Cairo"/>
              </a:rPr>
              <a:t>تم تصميم هذا النموذج الأولي ليناسب متطلبات المدارس الثانوية والجامعات المصرية لترسيخ قيم الديمقراطية والشفافية الرقمية بين الطلاب: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8542" y="2578608"/>
            <a:ext cx="2494026" cy="2011680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44534" y="2514600"/>
            <a:ext cx="2494026" cy="2011680"/>
          </a:xfrm>
          <a:prstGeom prst="rect">
            <a:avLst/>
          </a:prstGeom>
          <a:solidFill>
            <a:srgbClr val="FFFFFF"/>
          </a:solidFill>
          <a:ln w="22225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934955" y="2651760"/>
            <a:ext cx="1257300" cy="22860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FFFFFF"/>
                </a:solidFill>
                <a:latin typeface="Cairo"/>
                <a:cs typeface="Cairo"/>
              </a:rPr>
              <a:t>مرشح الرئاسة 🖊️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90838" y="2935224"/>
            <a:ext cx="2201418" cy="1503273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  <a:spcBef>
                <a:spcPts val="400"/>
              </a:spcBef>
            </a:pPr>
            <a:r>
              <a:rPr sz="1300" b="1" i="0" lang="ar-EG">
                <a:solidFill>
                  <a:srgbClr val="10283F"/>
                </a:solidFill>
                <a:latin typeface="Cairo"/>
                <a:cs typeface="Cairo"/>
              </a:rPr>
              <a:t>أحمد كريم الشناوي</a:t>
            </a:r>
          </a:p>
          <a:p>
            <a:pPr algn="r" rtl="1">
              <a:lnSpc>
                <a:spcPct val="110000"/>
              </a:lnSpc>
              <a:spcBef>
                <a:spcPts val="200"/>
              </a:spcBef>
            </a:pPr>
            <a:r>
              <a:rPr sz="950" b="0" i="0" lang="ar-EG">
                <a:solidFill>
                  <a:srgbClr val="68727B"/>
                </a:solidFill>
                <a:latin typeface="Cairo"/>
                <a:cs typeface="Cairo"/>
              </a:rPr>
              <a:t>مدرسة المتفوقين ⁦STEM⁩</a:t>
            </a:r>
          </a:p>
          <a:p>
            <a:pPr algn="r" rtl="1">
              <a:lnSpc>
                <a:spcPct val="122000"/>
              </a:lnSpc>
              <a:spcBef>
                <a:spcPts val="500"/>
              </a:spcBef>
            </a:pPr>
            <a:r>
              <a:rPr sz="1000" b="1" i="0" lang="ar-EG">
                <a:solidFill>
                  <a:srgbClr val="10283F"/>
                </a:solidFill>
                <a:latin typeface="Cairo"/>
                <a:cs typeface="Cairo"/>
              </a:rPr>
              <a:t>برنامج التحول الرقمي:</a:t>
            </a:r>
            <a:r>
              <a:rPr sz="1000" b="0" i="0" lang="ar-EG">
                <a:solidFill>
                  <a:srgbClr val="10283F"/>
                </a:solidFill>
                <a:latin typeface="Cairo"/>
                <a:cs typeface="Cairo"/>
              </a:rPr>
              <a:t> منصة أندية طلابية ومعامل ابتكار وهاكاثونات مدرسية.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49924" y="2578608"/>
            <a:ext cx="2494026" cy="2011680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85916" y="2514600"/>
            <a:ext cx="2494026" cy="2011680"/>
          </a:xfrm>
          <a:prstGeom prst="rect">
            <a:avLst/>
          </a:prstGeom>
          <a:solidFill>
            <a:srgbClr val="FFFFFF"/>
          </a:solidFill>
          <a:ln w="22225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3018" y="2651760"/>
            <a:ext cx="1150620" cy="22860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FFFFFF"/>
                </a:solidFill>
                <a:latin typeface="Cairo"/>
                <a:cs typeface="Cairo"/>
              </a:rPr>
              <a:t>نائب الرئيس 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32220" y="2935224"/>
            <a:ext cx="2201418" cy="1503273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  <a:spcBef>
                <a:spcPts val="400"/>
              </a:spcBef>
            </a:pPr>
            <a:r>
              <a:rPr sz="1300" b="1" i="0" lang="ar-EG">
                <a:solidFill>
                  <a:srgbClr val="10283F"/>
                </a:solidFill>
                <a:latin typeface="Cairo"/>
                <a:cs typeface="Cairo"/>
              </a:rPr>
              <a:t>يوسف حازم القاضي</a:t>
            </a:r>
          </a:p>
          <a:p>
            <a:pPr algn="r" rtl="1">
              <a:lnSpc>
                <a:spcPct val="110000"/>
              </a:lnSpc>
              <a:spcBef>
                <a:spcPts val="200"/>
              </a:spcBef>
            </a:pPr>
            <a:r>
              <a:rPr sz="950" b="0" i="0" lang="ar-EG">
                <a:solidFill>
                  <a:srgbClr val="68727B"/>
                </a:solidFill>
                <a:latin typeface="Cairo"/>
                <a:cs typeface="Cairo"/>
              </a:rPr>
              <a:t>الثانوية بنين</a:t>
            </a:r>
          </a:p>
          <a:p>
            <a:pPr algn="r" rtl="1">
              <a:lnSpc>
                <a:spcPct val="122000"/>
              </a:lnSpc>
              <a:spcBef>
                <a:spcPts val="500"/>
              </a:spcBef>
            </a:pPr>
            <a:r>
              <a:rPr sz="1000" b="1" i="0" lang="ar-EG">
                <a:solidFill>
                  <a:srgbClr val="10283F"/>
                </a:solidFill>
                <a:latin typeface="Cairo"/>
                <a:cs typeface="Cairo"/>
              </a:rPr>
              <a:t>الدعم الأكاديمي:</a:t>
            </a:r>
            <a:r>
              <a:rPr sz="1000" b="0" i="0" lang="ar-EG">
                <a:solidFill>
                  <a:srgbClr val="10283F"/>
                </a:solidFill>
                <a:latin typeface="Cairo"/>
                <a:cs typeface="Cairo"/>
              </a:rPr>
              <a:t> مجموعات تقوية تفاعلية وبنك أسئلة وتأهيل للمنح الدولية.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91306" y="2578608"/>
            <a:ext cx="2494026" cy="2011680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527298" y="2514600"/>
            <a:ext cx="2494026" cy="2011680"/>
          </a:xfrm>
          <a:prstGeom prst="rect">
            <a:avLst/>
          </a:prstGeom>
          <a:solidFill>
            <a:srgbClr val="FFFFFF"/>
          </a:solidFill>
          <a:ln w="22225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71059" y="2651760"/>
            <a:ext cx="1203960" cy="22860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FFFFFF"/>
                </a:solidFill>
                <a:latin typeface="Cairo"/>
                <a:cs typeface="Cairo"/>
              </a:rPr>
              <a:t>أمين الأنشطة 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73602" y="2935224"/>
            <a:ext cx="2201418" cy="1503273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  <a:spcBef>
                <a:spcPts val="400"/>
              </a:spcBef>
            </a:pPr>
            <a:r>
              <a:rPr sz="1300" b="1" i="0" lang="ar-EG">
                <a:solidFill>
                  <a:srgbClr val="10283F"/>
                </a:solidFill>
                <a:latin typeface="Cairo"/>
                <a:cs typeface="Cairo"/>
              </a:rPr>
              <a:t>عبد الرحمن سامح فوزي</a:t>
            </a:r>
          </a:p>
          <a:p>
            <a:pPr algn="r" rtl="1">
              <a:lnSpc>
                <a:spcPct val="110000"/>
              </a:lnSpc>
              <a:spcBef>
                <a:spcPts val="200"/>
              </a:spcBef>
            </a:pPr>
            <a:r>
              <a:rPr sz="950" b="0" i="0" lang="ar-EG">
                <a:solidFill>
                  <a:srgbClr val="68727B"/>
                </a:solidFill>
                <a:latin typeface="Cairo"/>
                <a:cs typeface="Cairo"/>
              </a:rPr>
              <a:t>السعيدية الثانوية</a:t>
            </a:r>
          </a:p>
          <a:p>
            <a:pPr algn="r" rtl="1">
              <a:lnSpc>
                <a:spcPct val="122000"/>
              </a:lnSpc>
              <a:spcBef>
                <a:spcPts val="500"/>
              </a:spcBef>
            </a:pPr>
            <a:r>
              <a:rPr sz="1000" b="1" i="0" lang="ar-EG">
                <a:solidFill>
                  <a:srgbClr val="10283F"/>
                </a:solidFill>
                <a:latin typeface="Cairo"/>
                <a:cs typeface="Cairo"/>
              </a:rPr>
              <a:t>الأنشطة والرياضة:</a:t>
            </a:r>
            <a:r>
              <a:rPr sz="1000" b="0" i="0" lang="ar-EG">
                <a:solidFill>
                  <a:srgbClr val="10283F"/>
                </a:solidFill>
                <a:latin typeface="Cairo"/>
                <a:cs typeface="Cairo"/>
              </a:rPr>
              <a:t> دوري المدارس لكرة القدم والشطرنج ومعسكرات القيادة والكشافة.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2688" y="2578608"/>
            <a:ext cx="2494026" cy="2011680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68680" y="2514600"/>
            <a:ext cx="2494026" cy="2011680"/>
          </a:xfrm>
          <a:prstGeom prst="rect">
            <a:avLst/>
          </a:prstGeom>
          <a:solidFill>
            <a:srgbClr val="FFFFFF"/>
          </a:solidFill>
          <a:ln w="22225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12441" y="2651760"/>
            <a:ext cx="1203960" cy="22860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FFFFFF"/>
                </a:solidFill>
                <a:latin typeface="Cairo"/>
                <a:cs typeface="Cairo"/>
              </a:rPr>
              <a:t>أمين الخدمات 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" y="2935224"/>
            <a:ext cx="2201418" cy="1503273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  <a:spcBef>
                <a:spcPts val="400"/>
              </a:spcBef>
            </a:pPr>
            <a:r>
              <a:rPr sz="1300" b="1" i="0" lang="ar-EG">
                <a:solidFill>
                  <a:srgbClr val="10283F"/>
                </a:solidFill>
                <a:latin typeface="Cairo"/>
                <a:cs typeface="Cairo"/>
              </a:rPr>
              <a:t>زياد طارق الدسوقي</a:t>
            </a:r>
          </a:p>
          <a:p>
            <a:pPr algn="r" rtl="1">
              <a:lnSpc>
                <a:spcPct val="110000"/>
              </a:lnSpc>
              <a:spcBef>
                <a:spcPts val="200"/>
              </a:spcBef>
            </a:pPr>
            <a:r>
              <a:rPr sz="950" b="0" i="0" lang="ar-EG">
                <a:solidFill>
                  <a:srgbClr val="68727B"/>
                </a:solidFill>
                <a:latin typeface="Cairo"/>
                <a:cs typeface="Cairo"/>
              </a:rPr>
              <a:t>المنصورة الثانوية</a:t>
            </a:r>
          </a:p>
          <a:p>
            <a:pPr algn="r" rtl="1">
              <a:lnSpc>
                <a:spcPct val="122000"/>
              </a:lnSpc>
              <a:spcBef>
                <a:spcPts val="500"/>
              </a:spcBef>
            </a:pPr>
            <a:r>
              <a:rPr sz="1000" b="1" i="0" lang="ar-EG">
                <a:solidFill>
                  <a:srgbClr val="10283F"/>
                </a:solidFill>
                <a:latin typeface="Cairo"/>
                <a:cs typeface="Cairo"/>
              </a:rPr>
              <a:t>الشمول والدمج:</a:t>
            </a:r>
            <a:r>
              <a:rPr sz="1000" b="0" i="0" lang="ar-EG">
                <a:solidFill>
                  <a:srgbClr val="10283F"/>
                </a:solidFill>
                <a:latin typeface="Cairo"/>
                <a:cs typeface="Cairo"/>
              </a:rPr>
              <a:t> دمج ذوي الهمم وتوفير صندوق مقترحات رقمي صوتي مباشر.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2688" y="4773168"/>
            <a:ext cx="10469880" cy="960120"/>
          </a:xfrm>
          <a:prstGeom prst="rect">
            <a:avLst/>
          </a:prstGeom>
          <a:solidFill>
            <a:srgbClr val="E6BD5D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68680" y="4709160"/>
            <a:ext cx="10469880" cy="960120"/>
          </a:xfrm>
          <a:prstGeom prst="rect">
            <a:avLst/>
          </a:prstGeom>
          <a:solidFill>
            <a:srgbClr val="FFFDF2"/>
          </a:solidFill>
          <a:ln w="22225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54880" y="4800600"/>
            <a:ext cx="6355080" cy="77724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30000"/>
              </a:lnSpc>
            </a:pPr>
            <a:r>
              <a:rPr sz="1100" b="1" i="0" lang="ar-EG">
                <a:solidFill>
                  <a:srgbClr val="0C2237"/>
                </a:solidFill>
                <a:latin typeface="Cairo"/>
                <a:cs typeface="Cairo"/>
              </a:rPr>
              <a:t>🎯 تجربة نموذج واقعي جاهز:</a:t>
            </a:r>
            <a:r>
              <a:rPr sz="1100" b="0" i="0" lang="ar-EG">
                <a:solidFill>
                  <a:srgbClr val="475467"/>
                </a:solidFill>
                <a:latin typeface="Cairo"/>
                <a:cs typeface="Cairo"/>
              </a:rPr>
              <a:t> تتوفر بيانات وبطاقات طلابية جاهزة لتجربة دورة الاقتراع بالكامل فوراً.</a:t>
            </a:r>
          </a:p>
        </p:txBody>
      </p:sp>
      <p:sp>
        <p:nvSpPr>
          <p:cNvPr id="36" name="Rectangle 35">
            <a:hlinkClick r:id="rId2"/>
          </p:cNvPr>
          <p:cNvSpPr/>
          <p:nvPr/>
        </p:nvSpPr>
        <p:spPr>
          <a:xfrm>
            <a:off x="1097280" y="4951476"/>
            <a:ext cx="3383280" cy="475488"/>
          </a:xfrm>
          <a:prstGeom prst="rect">
            <a:avLst/>
          </a:prstGeom>
          <a:solidFill>
            <a:srgbClr val="FF4453"/>
          </a:solidFill>
          <a:ln w="22225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1050" b="1" i="0" lang="ar-EG">
                <a:solidFill>
                  <a:srgbClr val="FFFFFF"/>
                </a:solidFill>
                <a:latin typeface="Cairo"/>
                <a:cs typeface="Cairo"/>
              </a:rPr>
              <a:t>بدء التصويت في انتخابات اتحاد الطلاب ←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68680" y="5961888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38" name="Rectangle 37"/>
          <p:cNvSpPr/>
          <p:nvPr/>
        </p:nvSpPr>
        <p:spPr>
          <a:xfrm>
            <a:off x="4023360" y="60350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النموذج التطبيقي: </a:t>
            </a:r>
            <a:r>
              <a:rPr sz="850" b="1" i="0" lang="ar-EG">
                <a:solidFill>
                  <a:srgbClr val="0C2237"/>
                </a:solidFill>
                <a:latin typeface="Cairo"/>
                <a:cs typeface="Cairo"/>
              </a:rPr>
              <a:t>انتخابات اتحاد طلاب مدارس الجمهورية (دورة ⁦2026/2027⁩)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" y="6035040"/>
            <a:ext cx="315468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l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الشريحة </a:t>
            </a:r>
            <a:r>
              <a:rPr sz="850" b="1" i="0" lang="ar-EG">
                <a:solidFill>
                  <a:srgbClr val="0C2237"/>
                </a:solidFill>
                <a:latin typeface="Cairo"/>
                <a:cs typeface="Cairo"/>
              </a:rPr>
              <a:t>⁦10⁩ من ⁦12⁩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7784" y="484632"/>
            <a:ext cx="11430000" cy="6217920"/>
          </a:xfrm>
          <a:prstGeom prst="rect">
            <a:avLst/>
          </a:prstGeom>
          <a:solidFill>
            <a:srgbClr val="58D5CC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9204" y="425196"/>
            <a:ext cx="11430000" cy="62179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310896"/>
            <a:ext cx="11430000" cy="6217920"/>
          </a:xfrm>
          <a:prstGeom prst="rect">
            <a:avLst/>
          </a:prstGeom>
          <a:solidFill>
            <a:srgbClr val="FBF9F1"/>
          </a:solidFill>
          <a:ln w="38100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438912"/>
            <a:ext cx="11173968" cy="5961888"/>
          </a:xfrm>
          <a:prstGeom prst="rect">
            <a:avLst/>
          </a:prstGeom>
          <a:noFill/>
          <a:ln w="12700">
            <a:solidFill>
              <a:srgbClr val="C3C7CA"/>
            </a:solidFill>
            <a:prstDash val="dash"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10312"/>
            <a:ext cx="1994916" cy="2743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173736"/>
            <a:ext cx="1994916" cy="274320"/>
          </a:xfrm>
          <a:prstGeom prst="rect">
            <a:avLst/>
          </a:prstGeom>
          <a:solidFill>
            <a:srgbClr val="FF4453"/>
          </a:solidFill>
          <a:ln w="19050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50" b="1" i="0" lang="en-US">
                <a:solidFill>
                  <a:srgbClr val="FFFFFF"/>
                </a:solidFill>
                <a:latin typeface="Courier New"/>
                <a:cs typeface="Courier New"/>
              </a:rPr>
              <a:t>SLIDE 11 // FUTURE ROADMAP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566928"/>
            <a:ext cx="3139440" cy="256032"/>
          </a:xfrm>
          <a:prstGeom prst="rect">
            <a:avLst/>
          </a:prstGeom>
          <a:solidFill>
            <a:srgbClr val="ECEEEF"/>
          </a:solidFill>
          <a:ln w="9525">
            <a:solidFill>
              <a:srgbClr val="B8C0C6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00" b="1" i="0" lang="en-US">
                <a:solidFill>
                  <a:srgbClr val="10283F"/>
                </a:solidFill>
                <a:latin typeface="Courier New"/>
                <a:cs typeface="Courier New"/>
              </a:rPr>
              <a:t>MERKLE PROOFS, ACCESSIBILITY &amp; DECENTRALIZATION</a:t>
            </a:r>
          </a:p>
        </p:txBody>
      </p:sp>
      <p:sp>
        <p:nvSpPr>
          <p:cNvPr id="9" name="Oval 8"/>
          <p:cNvSpPr/>
          <p:nvPr/>
        </p:nvSpPr>
        <p:spPr>
          <a:xfrm>
            <a:off x="11219688" y="640080"/>
            <a:ext cx="118872" cy="118872"/>
          </a:xfrm>
          <a:prstGeom prst="ellipse">
            <a:avLst/>
          </a:prstGeom>
          <a:solidFill>
            <a:srgbClr val="43BF86"/>
          </a:solidFill>
          <a:ln w="15240">
            <a:solidFill>
              <a:srgbClr val="10283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90999" y="530352"/>
            <a:ext cx="6909816" cy="32918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1050" b="1" i="0" lang="ar-EG">
                <a:solidFill>
                  <a:srgbClr val="10283F"/>
                </a:solidFill>
                <a:latin typeface="Cairo"/>
                <a:cs typeface="Cairo"/>
              </a:rPr>
              <a:t>خارطة الطريق المستقبلية (⁦Future Roadmap⁩)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950976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12" name="Rectangle 11"/>
          <p:cNvSpPr/>
          <p:nvPr/>
        </p:nvSpPr>
        <p:spPr>
          <a:xfrm>
            <a:off x="10435590" y="1042415"/>
            <a:ext cx="902970" cy="256032"/>
          </a:xfrm>
          <a:prstGeom prst="rect">
            <a:avLst/>
          </a:prstGeom>
          <a:solidFill>
            <a:srgbClr val="0C2237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WHAT'S NEXT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54390" y="1042415"/>
            <a:ext cx="1981199" cy="256032"/>
          </a:xfrm>
          <a:prstGeom prst="rect">
            <a:avLst/>
          </a:prstGeom>
          <a:solidFill>
            <a:srgbClr val="E6BD5D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0C2237"/>
                </a:solidFill>
                <a:latin typeface="Cairo"/>
                <a:cs typeface="Cairo"/>
              </a:rPr>
              <a:t>التطوير المستقبلي والتوسع القومي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4270" y="1042415"/>
            <a:ext cx="960119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4453"/>
                </a:solidFill>
                <a:latin typeface="Courier New"/>
                <a:cs typeface="Courier New"/>
              </a:rPr>
              <a:t>FUTURE SCALE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1371600"/>
            <a:ext cx="10469880" cy="566928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08000"/>
              </a:lnSpc>
            </a:pPr>
            <a:r>
              <a:rPr sz="2500" b="1" i="0" lang="ar-EG">
                <a:solidFill>
                  <a:srgbClr val="10283F"/>
                </a:solidFill>
                <a:latin typeface="Cairo"/>
                <a:cs typeface="Cairo"/>
              </a:rPr>
              <a:t>خارطة الطريق: </a:t>
            </a:r>
            <a:r>
              <a:rPr sz="2500" b="1" i="0" lang="ar-EG">
                <a:solidFill>
                  <a:srgbClr val="FF4453"/>
                </a:solidFill>
                <a:latin typeface="Cairo"/>
                <a:cs typeface="Cairo"/>
              </a:rPr>
              <a:t>من النموذج الأولي إلى النضج الرقمي الشامل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4528" y="2002536"/>
            <a:ext cx="3368040" cy="2212848"/>
          </a:xfrm>
          <a:prstGeom prst="rect">
            <a:avLst/>
          </a:prstGeom>
          <a:solidFill>
            <a:srgbClr val="58D5CC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70520" y="1938528"/>
            <a:ext cx="3368040" cy="2212848"/>
          </a:xfrm>
          <a:prstGeom prst="rect">
            <a:avLst/>
          </a:prstGeom>
          <a:solidFill>
            <a:srgbClr val="F0FDFC"/>
          </a:solidFill>
          <a:ln w="22225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21774" y="2075688"/>
            <a:ext cx="1570481" cy="22860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PHASE 1 // CRYPTO AUDIT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16824" y="2359152"/>
            <a:ext cx="3075432" cy="1704441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  <a:spcBef>
                <a:spcPts val="600"/>
              </a:spcBef>
            </a:pPr>
            <a:r>
              <a:rPr sz="1250" b="1" i="0" lang="ar-EG">
                <a:solidFill>
                  <a:srgbClr val="10283F"/>
                </a:solidFill>
                <a:latin typeface="Cairo"/>
                <a:cs typeface="Cairo"/>
              </a:rPr>
              <a:t>إثبات الوجود (⁦Merkle Tree Proofs⁩)</a:t>
            </a:r>
          </a:p>
          <a:p>
            <a:pPr algn="r" rtl="1">
              <a:lnSpc>
                <a:spcPct val="122000"/>
              </a:lnSpc>
              <a:spcBef>
                <a:spcPts val="400"/>
              </a:spcBef>
            </a:pPr>
            <a:r>
              <a:rPr sz="1000" b="0" i="0" lang="ar-EG">
                <a:solidFill>
                  <a:srgbClr val="10283F"/>
                </a:solidFill>
                <a:latin typeface="Cairo"/>
                <a:cs typeface="Cairo"/>
              </a:rPr>
              <a:t>بناء شجرة ميركل تشفيرية تراكمية (⁦Merkle Tree⁩) للأصوات، تتيح لأي مراقب أو محكم أو ناخب التحقق الرياضي التام من أن صوته مدرج في الشجرة دون كشف خياره (⁦End-to-End Verifiability⁩).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3607" y="2002536"/>
            <a:ext cx="3368040" cy="2212848"/>
          </a:xfrm>
          <a:prstGeom prst="rect">
            <a:avLst/>
          </a:prstGeom>
          <a:solidFill>
            <a:srgbClr val="E6BD5D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19599" y="1938528"/>
            <a:ext cx="3368040" cy="2212848"/>
          </a:xfrm>
          <a:prstGeom prst="rect">
            <a:avLst/>
          </a:prstGeom>
          <a:solidFill>
            <a:srgbClr val="FFFDF2"/>
          </a:solidFill>
          <a:ln w="22225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2303" y="2075688"/>
            <a:ext cx="1399032" cy="22860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PHASE 2 // INCLUSION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65903" y="2359152"/>
            <a:ext cx="3075432" cy="1704441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  <a:spcBef>
                <a:spcPts val="600"/>
              </a:spcBef>
            </a:pPr>
            <a:r>
              <a:rPr sz="1250" b="1" i="0" lang="ar-EG">
                <a:solidFill>
                  <a:srgbClr val="10283F"/>
                </a:solidFill>
                <a:latin typeface="Cairo"/>
                <a:cs typeface="Cairo"/>
              </a:rPr>
              <a:t>الشمول الرقمي لذوي الهمم</a:t>
            </a:r>
          </a:p>
          <a:p>
            <a:pPr algn="r" rtl="1">
              <a:lnSpc>
                <a:spcPct val="122000"/>
              </a:lnSpc>
              <a:spcBef>
                <a:spcPts val="400"/>
              </a:spcBef>
            </a:pPr>
            <a:r>
              <a:rPr sz="1000" b="0" i="0" lang="ar-EG">
                <a:solidFill>
                  <a:srgbClr val="10283F"/>
                </a:solidFill>
                <a:latin typeface="Cairo"/>
                <a:cs typeface="Cairo"/>
              </a:rPr>
              <a:t>تطوير واجهات صوتية تفاعلية بالكامل (⁦Speech-Driven Interface⁩) وتتبع حركة العين والرأس (⁦Eye-Tracking Gestures⁩) لتمكين الطلاب ذوي القدرات الخاصة والمكفوفين من التصويت باستقلالية تامة.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7" y="2002536"/>
            <a:ext cx="3368040" cy="2212848"/>
          </a:xfrm>
          <a:prstGeom prst="rect">
            <a:avLst/>
          </a:prstGeom>
          <a:solidFill>
            <a:srgbClr val="43BF86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79" y="1938528"/>
            <a:ext cx="3368040" cy="2212848"/>
          </a:xfrm>
          <a:prstGeom prst="rect">
            <a:avLst/>
          </a:prstGeom>
          <a:solidFill>
            <a:srgbClr val="F0FBF5"/>
          </a:solidFill>
          <a:ln w="22225">
            <a:solidFill>
              <a:srgbClr val="43BF86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91333" y="2075688"/>
            <a:ext cx="1799082" cy="228600"/>
          </a:xfrm>
          <a:prstGeom prst="rect">
            <a:avLst/>
          </a:prstGeom>
          <a:solidFill>
            <a:srgbClr val="43BF86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PHASE 3 // DECENTRALIZATION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3" y="2359152"/>
            <a:ext cx="3075432" cy="1704441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  <a:spcBef>
                <a:spcPts val="600"/>
              </a:spcBef>
            </a:pPr>
            <a:r>
              <a:rPr sz="1250" b="1" i="0" lang="ar-EG">
                <a:solidFill>
                  <a:srgbClr val="10283F"/>
                </a:solidFill>
                <a:latin typeface="Cairo"/>
                <a:cs typeface="Cairo"/>
              </a:rPr>
              <a:t>العقد الرقابية الموزعة</a:t>
            </a:r>
          </a:p>
          <a:p>
            <a:pPr algn="r" rtl="1">
              <a:lnSpc>
                <a:spcPct val="122000"/>
              </a:lnSpc>
              <a:spcBef>
                <a:spcPts val="400"/>
              </a:spcBef>
            </a:pPr>
            <a:r>
              <a:rPr sz="1000" b="0" i="0" lang="ar-EG">
                <a:solidFill>
                  <a:srgbClr val="10283F"/>
                </a:solidFill>
                <a:latin typeface="Cairo"/>
                <a:cs typeface="Cairo"/>
              </a:rPr>
              <a:t>توزيع مفاتيح التشفير وسجلات التدقيق عبر عُقد مستقلة تديرها لجان إشراف متعددة (اللجنة القضائية، إدارة المدرسة، اتحاد الطلاب) لضمان عدم انفراد جهة واحدة بالصندوق.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1832" y="4507992"/>
            <a:ext cx="10469880" cy="1280160"/>
          </a:xfrm>
          <a:prstGeom prst="rect">
            <a:avLst/>
          </a:prstGeom>
          <a:solidFill>
            <a:srgbClr val="58D5CC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68680" y="4434840"/>
            <a:ext cx="10469880" cy="1280160"/>
          </a:xfrm>
          <a:prstGeom prst="rect">
            <a:avLst/>
          </a:prstGeom>
          <a:solidFill>
            <a:srgbClr val="0C2237"/>
          </a:solidFill>
          <a:ln w="22225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51560" y="4581144"/>
            <a:ext cx="10104120" cy="1005839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10000"/>
              </a:lnSpc>
            </a:pPr>
            <a:r>
              <a:rPr sz="1350" b="1" i="0" lang="ar-EG">
                <a:solidFill>
                  <a:srgbClr val="E6BD5D"/>
                </a:solidFill>
                <a:latin typeface="Cairo"/>
                <a:cs typeface="Cairo"/>
              </a:rPr>
              <a:t>🏛️ الرؤية الوطنية والتعليمية للجمهورية الجديدة:</a:t>
            </a:r>
          </a:p>
          <a:p>
            <a:pPr algn="r" rtl="1">
              <a:lnSpc>
                <a:spcPct val="122000"/>
              </a:lnSpc>
              <a:spcBef>
                <a:spcPts val="500"/>
              </a:spcBef>
            </a:pPr>
            <a:r>
              <a:rPr sz="1100" b="0" i="0" lang="ar-EG">
                <a:solidFill>
                  <a:srgbClr val="E2E8F0"/>
                </a:solidFill>
                <a:latin typeface="Cairo"/>
                <a:cs typeface="Cairo"/>
              </a:rPr>
              <a:t>تحويل منظومة «صوت موثّق» إلى منصة قياسية وطنية مفتوحة المصدر للاقتراع الطلابي والنقابي والمؤسسي في مصر، تجمع بين أعلى معايير الأمان التشفيري وسهولة الاستخدام البيومتري.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68680" y="5961888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32" name="Rectangle 31"/>
          <p:cNvSpPr/>
          <p:nvPr/>
        </p:nvSpPr>
        <p:spPr>
          <a:xfrm>
            <a:off x="4023360" y="60350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الرؤية المستقبلية: </a:t>
            </a:r>
            <a:r>
              <a:rPr sz="850" b="1" i="0" lang="en-US">
                <a:solidFill>
                  <a:srgbClr val="0C2237"/>
                </a:solidFill>
                <a:latin typeface="Courier New"/>
                <a:cs typeface="Courier New"/>
              </a:rPr>
              <a:t>⁦Zero-Knowledge Voting &amp; Universal Digital Inclusion⁩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8680" y="6035040"/>
            <a:ext cx="315468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l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الشريحة </a:t>
            </a:r>
            <a:r>
              <a:rPr sz="850" b="1" i="0" lang="ar-EG">
                <a:solidFill>
                  <a:srgbClr val="0C2237"/>
                </a:solidFill>
                <a:latin typeface="Cairo"/>
                <a:cs typeface="Cairo"/>
              </a:rPr>
              <a:t>⁦11⁩ من ⁦12⁩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7784" y="484632"/>
            <a:ext cx="11430000" cy="6217920"/>
          </a:xfrm>
          <a:prstGeom prst="rect">
            <a:avLst/>
          </a:prstGeom>
          <a:solidFill>
            <a:srgbClr val="58D5CC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9204" y="425196"/>
            <a:ext cx="11430000" cy="62179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310896"/>
            <a:ext cx="11430000" cy="6217920"/>
          </a:xfrm>
          <a:prstGeom prst="rect">
            <a:avLst/>
          </a:prstGeom>
          <a:solidFill>
            <a:srgbClr val="FBF9F1"/>
          </a:solidFill>
          <a:ln w="38100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438912"/>
            <a:ext cx="11173968" cy="5961888"/>
          </a:xfrm>
          <a:prstGeom prst="rect">
            <a:avLst/>
          </a:prstGeom>
          <a:noFill/>
          <a:ln w="12700">
            <a:solidFill>
              <a:srgbClr val="C3C7CA"/>
            </a:solidFill>
            <a:prstDash val="dash"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10312"/>
            <a:ext cx="2513075" cy="2743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173736"/>
            <a:ext cx="2513075" cy="274320"/>
          </a:xfrm>
          <a:prstGeom prst="rect">
            <a:avLst/>
          </a:prstGeom>
          <a:solidFill>
            <a:srgbClr val="FF4453"/>
          </a:solidFill>
          <a:ln w="19050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50" b="1" i="0" lang="en-US">
                <a:solidFill>
                  <a:srgbClr val="FFFFFF"/>
                </a:solidFill>
                <a:latin typeface="Courier New"/>
                <a:cs typeface="Courier New"/>
              </a:rPr>
              <a:t>SLIDE 12 // LIVE DEMO &amp; CONCLUSION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566928"/>
            <a:ext cx="2407920" cy="256032"/>
          </a:xfrm>
          <a:prstGeom prst="rect">
            <a:avLst/>
          </a:prstGeom>
          <a:solidFill>
            <a:srgbClr val="ECEEEF"/>
          </a:solidFill>
          <a:ln w="9525">
            <a:solidFill>
              <a:srgbClr val="B8C0C6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800" b="1" i="0" lang="en-US">
                <a:solidFill>
                  <a:srgbClr val="10283F"/>
                </a:solidFill>
                <a:latin typeface="Courier New"/>
                <a:cs typeface="Courier New"/>
              </a:rPr>
              <a:t>SOOT-MAWATHAQ // LIVE DEMONSTRATION</a:t>
            </a:r>
          </a:p>
        </p:txBody>
      </p:sp>
      <p:sp>
        <p:nvSpPr>
          <p:cNvPr id="9" name="Oval 8"/>
          <p:cNvSpPr/>
          <p:nvPr/>
        </p:nvSpPr>
        <p:spPr>
          <a:xfrm>
            <a:off x="11219688" y="640080"/>
            <a:ext cx="118872" cy="118872"/>
          </a:xfrm>
          <a:prstGeom prst="ellipse">
            <a:avLst/>
          </a:prstGeom>
          <a:solidFill>
            <a:srgbClr val="43BF86"/>
          </a:solidFill>
          <a:ln w="15240">
            <a:solidFill>
              <a:srgbClr val="10283F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59480" y="530352"/>
            <a:ext cx="7641336" cy="32918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1050" b="1" i="0" lang="ar-EG">
                <a:solidFill>
                  <a:srgbClr val="10283F"/>
                </a:solidFill>
                <a:latin typeface="Cairo"/>
                <a:cs typeface="Cairo"/>
              </a:rPr>
              <a:t>شريحة الختام والتجربة الحية (⁦Conclusion &amp; Live Demo⁩)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950976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12" name="Rectangle 11"/>
          <p:cNvSpPr/>
          <p:nvPr/>
        </p:nvSpPr>
        <p:spPr>
          <a:xfrm>
            <a:off x="10321290" y="1042415"/>
            <a:ext cx="1017270" cy="256032"/>
          </a:xfrm>
          <a:prstGeom prst="rect">
            <a:avLst/>
          </a:prstGeom>
          <a:solidFill>
            <a:srgbClr val="0C2237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FFFF"/>
                </a:solidFill>
                <a:latin typeface="Courier New"/>
                <a:cs typeface="Courier New"/>
              </a:rPr>
              <a:t>READY TO TEST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40090" y="1042415"/>
            <a:ext cx="1981199" cy="256032"/>
          </a:xfrm>
          <a:prstGeom prst="rect">
            <a:avLst/>
          </a:prstGeom>
          <a:solidFill>
            <a:srgbClr val="E6BD5D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750" b="1" i="0" lang="ar-EG">
                <a:solidFill>
                  <a:srgbClr val="0C2237"/>
                </a:solidFill>
                <a:latin typeface="Cairo"/>
                <a:cs typeface="Cairo"/>
              </a:rPr>
              <a:t>جاهزون لتجربة لجان التحكيم الحية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08520" y="1042415"/>
            <a:ext cx="1131570" cy="256032"/>
          </a:xfrm>
          <a:prstGeom prst="rect">
            <a:avLst/>
          </a:prstGeom>
          <a:solidFill>
            <a:srgbClr val="FFFFFF"/>
          </a:solidFill>
          <a:ln w="15875">
            <a:solidFill>
              <a:srgbClr val="10283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750" b="1" i="0" lang="en-US">
                <a:solidFill>
                  <a:srgbClr val="FF4453"/>
                </a:solidFill>
                <a:latin typeface="Courier New"/>
                <a:cs typeface="Courier New"/>
              </a:rPr>
              <a:t>SCAN &amp; VOTE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1463040"/>
            <a:ext cx="10469880" cy="114300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12000"/>
              </a:lnSpc>
            </a:pPr>
            <a:r>
              <a:rPr sz="3600" b="1" i="0" lang="ar-EG">
                <a:solidFill>
                  <a:srgbClr val="10283F"/>
                </a:solidFill>
                <a:latin typeface="Cairo"/>
                <a:cs typeface="Cairo"/>
              </a:rPr>
              <a:t>صوت موثّق</a:t>
            </a:r>
          </a:p>
          <a:p>
            <a:pPr algn="r" rtl="1">
              <a:lnSpc>
                <a:spcPct val="112000"/>
              </a:lnSpc>
            </a:pPr>
            <a:r>
              <a:rPr sz="3600" b="1" i="0" lang="ar-EG">
                <a:solidFill>
                  <a:srgbClr val="FF4453"/>
                </a:solidFill>
                <a:latin typeface="Cairo"/>
                <a:cs typeface="Cairo"/>
              </a:rPr>
              <a:t>مستقبل الاقتراع الآمن يبدأ الآن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2651760"/>
            <a:ext cx="10469880" cy="457200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25000"/>
              </a:lnSpc>
            </a:pPr>
            <a:r>
              <a:rPr sz="1150" b="0" i="0" lang="ar-EG">
                <a:solidFill>
                  <a:srgbClr val="2B3E50"/>
                </a:solidFill>
                <a:latin typeface="Cairo"/>
                <a:cs typeface="Cairo"/>
              </a:rPr>
              <a:t>ندعو السادة أعضاء لجنة التحكيم لمسح الـ ⁦QR Code⁩ وبدء تجربة الاقتراع الحي والتأكد من سرية الصوت وكفاءة المنظومة الآن: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" y="3236976"/>
            <a:ext cx="10469880" cy="1417320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3154680"/>
            <a:ext cx="10469880" cy="1417320"/>
          </a:xfrm>
          <a:prstGeom prst="rect">
            <a:avLst/>
          </a:prstGeom>
          <a:solidFill>
            <a:srgbClr val="FFFDF2"/>
          </a:solidFill>
          <a:ln w="31750">
            <a:solidFill>
              <a:srgbClr val="0C2237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84664" y="3346704"/>
            <a:ext cx="1316736" cy="1316736"/>
          </a:xfrm>
          <a:prstGeom prst="rect">
            <a:avLst/>
          </a:prstGeom>
          <a:solidFill>
            <a:srgbClr val="0C2237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29800" y="3291840"/>
            <a:ext cx="1316736" cy="1316736"/>
          </a:xfrm>
          <a:prstGeom prst="rect">
            <a:avLst/>
          </a:prstGeom>
          <a:solidFill>
            <a:srgbClr val="FFFFFF"/>
          </a:solidFill>
          <a:ln w="19050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pic>
        <p:nvPicPr>
          <p:cNvPr id="21" name="Picture 20" descr="qr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2952" y="3364992"/>
            <a:ext cx="1170432" cy="117043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097280" y="3282696"/>
            <a:ext cx="8458200" cy="329184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1400" b="1" i="0" lang="ar-EG">
                <a:solidFill>
                  <a:srgbClr val="0C2237"/>
                </a:solidFill>
                <a:latin typeface="Cairo"/>
                <a:cs typeface="Cairo"/>
              </a:rPr>
              <a:t>📲 ابدأ التجربة الحية الآن من هاتفك: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3630168"/>
            <a:ext cx="8458200" cy="603504"/>
          </a:xfrm>
          <a:prstGeom prst="rect">
            <a:avLst/>
          </a:prstGeom>
          <a:noFill/>
          <a:ln>
            <a:noFill/>
          </a:ln>
        </p:spPr>
        <p:txBody>
          <a:bodyPr rtlCol="0" anchor="t" wrap="square" lIns="9144" tIns="9144" rIns="9144" bIns="9144">
            <a:noAutofit/>
          </a:bodyPr>
          <a:lstStyle/>
          <a:p>
            <a:pPr algn="r" rtl="1">
              <a:lnSpc>
                <a:spcPct val="120000"/>
              </a:lnSpc>
            </a:pPr>
            <a:r>
              <a:rPr sz="1050" b="0" i="0" lang="ar-EG">
                <a:solidFill>
                  <a:srgbClr val="334155"/>
                </a:solidFill>
                <a:latin typeface="Cairo"/>
                <a:cs typeface="Cairo"/>
              </a:rPr>
              <a:t>⁦1⁩. افتح كاميرا هاتفك وامسح الرمز.</a:t>
            </a:r>
          </a:p>
          <a:p>
            <a:pPr algn="r" rtl="1">
              <a:lnSpc>
                <a:spcPct val="120000"/>
              </a:lnSpc>
              <a:spcBef>
                <a:spcPts val="100"/>
              </a:spcBef>
            </a:pPr>
            <a:r>
              <a:rPr sz="1050" b="0" i="0" lang="ar-EG">
                <a:solidFill>
                  <a:srgbClr val="334155"/>
                </a:solidFill>
                <a:latin typeface="Cairo"/>
                <a:cs typeface="Cairo"/>
              </a:rPr>
              <a:t>⁦2⁩. جرب التحقق البيومتري من الوجه وكشف الحيوية.</a:t>
            </a:r>
          </a:p>
          <a:p>
            <a:pPr algn="r" rtl="1">
              <a:lnSpc>
                <a:spcPct val="120000"/>
              </a:lnSpc>
              <a:spcBef>
                <a:spcPts val="100"/>
              </a:spcBef>
            </a:pPr>
            <a:r>
              <a:rPr sz="1050" b="0" i="0" lang="ar-EG">
                <a:solidFill>
                  <a:srgbClr val="334155"/>
                </a:solidFill>
                <a:latin typeface="Cairo"/>
                <a:cs typeface="Cairo"/>
              </a:rPr>
              <a:t>⁦3⁩. صوّت لمرشحك واستلم إيصالك المشفر وافحصه في الصندوق.</a:t>
            </a:r>
          </a:p>
        </p:txBody>
      </p:sp>
      <p:sp>
        <p:nvSpPr>
          <p:cNvPr id="24" name="Rectangle 23">
            <a:hlinkClick r:id="rId3"/>
          </p:cNvPr>
          <p:cNvSpPr/>
          <p:nvPr/>
        </p:nvSpPr>
        <p:spPr>
          <a:xfrm>
            <a:off x="1097280" y="4233672"/>
            <a:ext cx="2179320" cy="256032"/>
          </a:xfrm>
          <a:prstGeom prst="rect">
            <a:avLst/>
          </a:prstGeom>
          <a:solidFill>
            <a:srgbClr val="F7F4EA"/>
          </a:solidFill>
          <a:ln w="15875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0">
              <a:lnSpc>
                <a:spcPct val="100000"/>
              </a:lnSpc>
            </a:pPr>
            <a:r>
              <a:rPr sz="1000" b="1" i="0" lang="en-US">
                <a:solidFill>
                  <a:srgbClr val="0C2237"/>
                </a:solidFill>
                <a:latin typeface="Courier New"/>
                <a:cs typeface="Courier New"/>
              </a:rPr>
              <a:t>soot-mawathaq.vercel.app/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85682" y="4809744"/>
            <a:ext cx="2507742" cy="548640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6" name="Rectangle 25">
            <a:hlinkClick r:id="rId4"/>
          </p:cNvPr>
          <p:cNvSpPr/>
          <p:nvPr/>
        </p:nvSpPr>
        <p:spPr>
          <a:xfrm>
            <a:off x="8830818" y="4754880"/>
            <a:ext cx="2507742" cy="548640"/>
          </a:xfrm>
          <a:prstGeom prst="rect">
            <a:avLst/>
          </a:prstGeom>
          <a:solidFill>
            <a:srgbClr val="FF4453"/>
          </a:solidFill>
          <a:ln w="22225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1150" b="1" i="0" lang="ar-EG">
                <a:solidFill>
                  <a:srgbClr val="FFFFFF"/>
                </a:solidFill>
                <a:latin typeface="Cairo"/>
                <a:cs typeface="Cairo"/>
              </a:rPr>
              <a:t>🚀 بدء التصويت الحي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1636" y="4809744"/>
            <a:ext cx="2507742" cy="548640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28" name="Rectangle 27">
            <a:hlinkClick r:id="rId5"/>
          </p:cNvPr>
          <p:cNvSpPr/>
          <p:nvPr/>
        </p:nvSpPr>
        <p:spPr>
          <a:xfrm>
            <a:off x="6176772" y="4754880"/>
            <a:ext cx="2507742" cy="548640"/>
          </a:xfrm>
          <a:prstGeom prst="rect">
            <a:avLst/>
          </a:prstGeom>
          <a:solidFill>
            <a:srgbClr val="0C2237"/>
          </a:solidFill>
          <a:ln w="22225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1150" b="1" i="0" lang="ar-EG">
                <a:solidFill>
                  <a:srgbClr val="FFFFFF"/>
                </a:solidFill>
                <a:latin typeface="Cairo"/>
                <a:cs typeface="Cairo"/>
              </a:rPr>
              <a:t>📊 النتائج والفرز المباشر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77589" y="4809744"/>
            <a:ext cx="2507742" cy="548640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0" name="Rectangle 29">
            <a:hlinkClick r:id="rId6"/>
          </p:cNvPr>
          <p:cNvSpPr/>
          <p:nvPr/>
        </p:nvSpPr>
        <p:spPr>
          <a:xfrm>
            <a:off x="3522725" y="4754880"/>
            <a:ext cx="2507742" cy="548640"/>
          </a:xfrm>
          <a:prstGeom prst="rect">
            <a:avLst/>
          </a:prstGeom>
          <a:solidFill>
            <a:srgbClr val="E6BD5D"/>
          </a:solidFill>
          <a:ln w="22225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1150" b="1" i="0" lang="ar-EG">
                <a:solidFill>
                  <a:srgbClr val="0C2237"/>
                </a:solidFill>
                <a:latin typeface="Cairo"/>
                <a:cs typeface="Cairo"/>
              </a:rPr>
              <a:t>🧾 فحص إيصال التصويت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3543" y="4809744"/>
            <a:ext cx="2507742" cy="548640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/>
          </a:p>
        </p:txBody>
      </p:sp>
      <p:sp>
        <p:nvSpPr>
          <p:cNvPr id="32" name="Rectangle 31">
            <a:hlinkClick r:id="rId7"/>
          </p:cNvPr>
          <p:cNvSpPr/>
          <p:nvPr/>
        </p:nvSpPr>
        <p:spPr>
          <a:xfrm>
            <a:off x="868679" y="4754880"/>
            <a:ext cx="2507742" cy="548640"/>
          </a:xfrm>
          <a:prstGeom prst="rect">
            <a:avLst/>
          </a:prstGeom>
          <a:solidFill>
            <a:srgbClr val="FFFFFF"/>
          </a:solidFill>
          <a:ln w="22225">
            <a:solidFill>
              <a:srgbClr val="10283F"/>
            </a:solidFill>
          </a:ln>
        </p:spPr>
        <p:txBody>
          <a:bodyPr rtlCol="0" anchor="ctr" wrap="square" lIns="36576" tIns="18288" rIns="36576" bIns="18288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1150" b="1" i="0" lang="ar-EG">
                <a:solidFill>
                  <a:srgbClr val="10283F"/>
                </a:solidFill>
                <a:latin typeface="Cairo"/>
                <a:cs typeface="Cairo"/>
              </a:rPr>
              <a:t>🛡️ لوحة لجنة الإشراف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8680" y="5961888"/>
            <a:ext cx="10469880" cy="0"/>
          </a:xfrm>
          <a:prstGeom prst="line">
            <a:avLst/>
          </a:prstGeom>
          <a:ln w="12700">
            <a:solidFill>
              <a:srgbClr val="BFC3C6"/>
            </a:solidFill>
            <a:prstDash val="dash"/>
          </a:ln>
        </p:spPr>
      </p:cxnSp>
      <p:sp>
        <p:nvSpPr>
          <p:cNvPr id="34" name="Rectangle 33"/>
          <p:cNvSpPr/>
          <p:nvPr/>
        </p:nvSpPr>
        <p:spPr>
          <a:xfrm>
            <a:off x="6766560" y="60350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r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إعداد وتطوير: </a:t>
            </a:r>
            <a:r>
              <a:rPr sz="850" b="1" i="0" lang="ar-EG">
                <a:solidFill>
                  <a:srgbClr val="0C2237"/>
                </a:solidFill>
                <a:latin typeface="Cairo"/>
                <a:cs typeface="Cairo"/>
              </a:rPr>
              <a:t>م / علي أحمد (⁦Ali Ahmed⁩) — مبتكر مشروع «صوت موثّق» 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6035040"/>
            <a:ext cx="3977639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ctr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جاهزون للإجابة على جميع استفسارات السادة المحكمين 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" y="6035040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l" rtl="1">
              <a:lnSpc>
                <a:spcPct val="100000"/>
              </a:lnSpc>
            </a:pPr>
            <a:r>
              <a:rPr sz="850" b="1" i="0" lang="ar-EG">
                <a:solidFill>
                  <a:srgbClr val="68727B"/>
                </a:solidFill>
                <a:latin typeface="Cairo"/>
                <a:cs typeface="Cairo"/>
              </a:rPr>
              <a:t>الشريحة </a:t>
            </a:r>
            <a:r>
              <a:rPr sz="850" b="1" i="0" lang="ar-EG">
                <a:solidFill>
                  <a:srgbClr val="0C2237"/>
                </a:solidFill>
                <a:latin typeface="Cairo"/>
                <a:cs typeface="Cairo"/>
              </a:rPr>
              <a:t>⁦12⁩ من ⁦12⁩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صوت موثّق — العرض التقديمي</dc:title>
  <dc:subject>منصة اقتراع إلكتروني بالتحقق البيومتري — نموذج تجريبي (Proof of Concept)</dc:subject>
  <dc:creator>علي أحمد</dc:creator>
  <cp:keywords>صوت موثّق; اقتراع إلكتروني; التحقق البيومتري; Zero-Link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