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drawingml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>
  <p:sldMasterIdLst>
    <p:sldMasterId id="2147483648" r:id="rId1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11" Type="http://schemas.openxmlformats.org/officeDocument/2006/relationships/slide" Target="slides/slide1.xml"/>
  <Relationship Id="rId12" Type="http://schemas.openxmlformats.org/officeDocument/2006/relationships/slide" Target="slides/slide2.xml"/>
  <Relationship Id="rId13" Type="http://schemas.openxmlformats.org/officeDocument/2006/relationships/slide" Target="slides/slide3.xml"/>
  <Relationship Id="rId14" Type="http://schemas.openxmlformats.org/officeDocument/2006/relationships/slide" Target="slides/slide4.xml"/>
  <Relationship Id="rId15" Type="http://schemas.openxmlformats.org/officeDocument/2006/relationships/slide" Target="slides/slide5.xml"/>
  <Relationship Id="rId16" Type="http://schemas.openxmlformats.org/officeDocument/2006/relationships/slide" Target="slides/slide6.xml"/>
  <Relationship Id="rId17" Type="http://schemas.openxmlformats.org/officeDocument/2006/relationships/slide" Target="slides/slide7.xml"/>
  <Relationship Id="rId18" Type="http://schemas.openxmlformats.org/officeDocument/2006/relationships/slide" Target="slides/slide8.xml"/>
  <Relationship Id="rId19" Type="http://schemas.openxmlformats.org/officeDocument/2006/relationships/slide" Target="slides/slide9.xml"/>
  <Relationship Id="rId20" Type="http://schemas.openxmlformats.org/officeDocument/2006/relationships/slide" Target="slides/slide10.xml"/>
  <Relationship Id="rId21" Type="http://schemas.openxmlformats.org/officeDocument/2006/relationships/slide" Target="slides/slide11.xml"/>
  <Relationship Id="rId22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20000" y="380000"/>
            <a:ext cx="11352000" cy="6100000"/>
          </a:xfrm>
          <a:prstGeom prst="rect">
            <a:avLst/>
          </a:prstGeom>
          <a:solidFill>
            <a:srgbClr val="FFFDF6"/>
          </a:solidFill>
          <a:ln w="38100">
            <a:solidFill>
              <a:srgbClr val="0C2237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00000" y="520000"/>
            <a:ext cx="10992000" cy="520000"/>
          </a:xfrm>
          <a:prstGeom prst="rect">
            <a:avLst/>
          </a:prstGeom>
          <a:solidFill>
            <a:srgbClr val="0C2237"/>
          </a:solidFill>
          <a:ln w="1905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300" b="1" dirty="0">
                <a:solidFill>
                  <a:srgbClr val="58D5CC"/>
                </a:solidFill>
                <a:latin typeface="Cairo"/>
                <a:cs typeface="Cairo"/>
              </a:rPr>
              <a:t>صوت موثّق // BIOMETRIC BALLOT LAB   |   SLIDE 01 // COVER</a:t>
            </a:r>
          </a:p>
        </p:txBody>
      </p:sp>
      <p:sp>
        <p:nvSpPr>
          <p:cNvPr id="5" name="Shape 5"/>
          <p:cNvSpPr/>
          <p:nvPr/>
        </p:nvSpPr>
        <p:spPr>
          <a:xfrm>
            <a:off x="720000" y="210000"/>
            <a:ext cx="2400000" cy="310000"/>
          </a:xfrm>
          <a:prstGeom prst="rect">
            <a:avLst/>
          </a:prstGeom>
          <a:solidFill>
            <a:srgbClr val="E6BD5D"/>
          </a:solidFill>
          <a:ln w="25400">
            <a:solidFill>
              <a:srgbClr val="0C2237"/>
            </a:solidFill>
          </a:ln>
        </p:spPr>
        <p:txBody>
          <a:bodyPr wrap="square" lIns="160000" tIns="120000" rIns="160000" bIns="120000" anchor="t" rtlCol="1"/>
          <a:lstStyle/>
          <a:p>
            <a:pPr algn="ctr" rtl="1"/>
            <a:r>
              <a:rPr lang="ar-EG" sz="1100" b="1" dirty="0">
                <a:solidFill>
                  <a:srgbClr val="0C2237"/>
                </a:solidFill>
                <a:latin typeface="Cairo"/>
                <a:cs typeface="Cairo"/>
              </a:rPr>
              <a:t>SLIDE 01 // COVER</a:t>
            </a:r>
          </a:p>
        </p:txBody>
      </p:sp>
      <p:sp>
        <p:nvSpPr>
          <p:cNvPr id="6" name="Shape 6"/>
          <p:cNvSpPr/>
          <p:nvPr/>
        </p:nvSpPr>
        <p:spPr>
          <a:xfrm>
            <a:off x="650000" y="1150000"/>
            <a:ext cx="10892000" cy="1250000"/>
          </a:xfrm>
          <a:prstGeom prst="rect">
            <a:avLst/>
          </a:prstGeom>
          <a:solidFill>
            <a:srgbClr val="FFFDF6"/>
          </a:solidFill>
          <a:ln>
            <a:noFill/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2800" b="1" dirty="0">
                <a:solidFill>
                  <a:srgbClr val="10283F"/>
                </a:solidFill>
                <a:latin typeface="Cairo"/>
                <a:cs typeface="Cairo"/>
              </a:rPr>
              <a:t>صوت موثّق — من هويتك .. إلى صوتك</a:t>
            </a:r>
          </a:p>
          <a:p>
            <a:pPr algn="r" rtl="1"/>
            <a:r>
              <a:rPr lang="ar-EG" sz="1500" b="0" dirty="0">
                <a:solidFill>
                  <a:srgbClr val="FF4453"/>
                </a:solidFill>
                <a:latin typeface="Cairo"/>
                <a:cs typeface="Cairo"/>
              </a:rPr>
              <a:t>منصة تصويت إلكتروني موثّقة بالتحقق البيومتري الحي من الوجه والبطاقة القومية</a:t>
            </a:r>
          </a:p>
        </p:txBody>
      </p:sp>
      <p:sp>
        <p:nvSpPr>
          <p:cNvPr id="7" name="Shape 7"/>
          <p:cNvSpPr/>
          <p:nvPr/>
        </p:nvSpPr>
        <p:spPr>
          <a:xfrm>
            <a:off x="8123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058000" y="2520000"/>
            <a:ext cx="3484000" cy="3150000"/>
          </a:xfrm>
          <a:prstGeom prst="rect">
            <a:avLst/>
          </a:prstGeom>
          <a:solidFill>
            <a:srgbClr val="EEF8F6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بصمة وجه عصبية 128-D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مطابقة حية لوجه الناخب عبر الكاميرا مع صورة بطاقة الرقم القومي المسجّلة وكشف الحياة (Liveness Detection).</a:t>
            </a:r>
          </a:p>
        </p:txBody>
      </p:sp>
      <p:sp>
        <p:nvSpPr>
          <p:cNvPr id="9" name="Shape 9"/>
          <p:cNvSpPr/>
          <p:nvPr/>
        </p:nvSpPr>
        <p:spPr>
          <a:xfrm>
            <a:off x="4419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4354000" y="2520000"/>
            <a:ext cx="3484000" cy="3150000"/>
          </a:xfrm>
          <a:prstGeom prst="rect">
            <a:avLst/>
          </a:prstGeom>
          <a:solidFill>
            <a:srgbClr val="FFF8CC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سرية اقتراع مطلقة (Zero-Link)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فصل معماري كامل بين جدول الناخبين وجدول الأصوات بحيث يستحيل ربط الصوت بصاحبه حتى على مدير النظام.</a:t>
            </a:r>
          </a:p>
        </p:txBody>
      </p:sp>
      <p:sp>
        <p:nvSpPr>
          <p:cNvPr id="11" name="Shape 11"/>
          <p:cNvSpPr/>
          <p:nvPr/>
        </p:nvSpPr>
        <p:spPr>
          <a:xfrm>
            <a:off x="715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650000" y="2520000"/>
            <a:ext cx="3484000" cy="31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تشغيل فوري بدون تعقيد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يعمل بـ Node.js القياسي بدون مكتبات خارجية في وضع التجربة الفوري أو مع قاعدة بيانات Supabase PostgreSQL.</a:t>
            </a:r>
          </a:p>
        </p:txBody>
      </p:sp>
      <p:sp>
        <p:nvSpPr>
          <p:cNvPr id="13" name="Shape 13"/>
          <p:cNvSpPr/>
          <p:nvPr/>
        </p:nvSpPr>
        <p:spPr>
          <a:xfrm>
            <a:off x="650000" y="5850000"/>
            <a:ext cx="10892000" cy="420000"/>
          </a:xfrm>
          <a:prstGeom prst="rect">
            <a:avLst/>
          </a:prstGeom>
          <a:solidFill>
            <a:srgbClr val="F2F0E8"/>
          </a:solidFill>
          <a:ln w="127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100" b="1" dirty="0">
                <a:solidFill>
                  <a:srgbClr val="68727B"/>
                </a:solidFill>
                <a:latin typeface="Cairo"/>
                <a:cs typeface="Cairo"/>
              </a:rPr>
              <a:t>مشروع صوت موثّق — منصة التصويت الإلكتروني بالتحقق البيومتري   |   الشريحة 1 من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20000" y="380000"/>
            <a:ext cx="11352000" cy="6100000"/>
          </a:xfrm>
          <a:prstGeom prst="rect">
            <a:avLst/>
          </a:prstGeom>
          <a:solidFill>
            <a:srgbClr val="FFFDF6"/>
          </a:solidFill>
          <a:ln w="38100">
            <a:solidFill>
              <a:srgbClr val="0C2237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00000" y="520000"/>
            <a:ext cx="10992000" cy="520000"/>
          </a:xfrm>
          <a:prstGeom prst="rect">
            <a:avLst/>
          </a:prstGeom>
          <a:solidFill>
            <a:srgbClr val="0C2237"/>
          </a:solidFill>
          <a:ln w="1905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300" b="1" dirty="0">
                <a:solidFill>
                  <a:srgbClr val="58D5CC"/>
                </a:solidFill>
                <a:latin typeface="Cairo"/>
                <a:cs typeface="Cairo"/>
              </a:rPr>
              <a:t>صوت موثّق // BIOMETRIC BALLOT LAB   |   SLIDE 02 // PROBLEM &amp; GOAL</a:t>
            </a:r>
          </a:p>
        </p:txBody>
      </p:sp>
      <p:sp>
        <p:nvSpPr>
          <p:cNvPr id="5" name="Shape 5"/>
          <p:cNvSpPr/>
          <p:nvPr/>
        </p:nvSpPr>
        <p:spPr>
          <a:xfrm>
            <a:off x="720000" y="210000"/>
            <a:ext cx="2400000" cy="310000"/>
          </a:xfrm>
          <a:prstGeom prst="rect">
            <a:avLst/>
          </a:prstGeom>
          <a:solidFill>
            <a:srgbClr val="E6BD5D"/>
          </a:solidFill>
          <a:ln w="25400">
            <a:solidFill>
              <a:srgbClr val="0C2237"/>
            </a:solidFill>
          </a:ln>
        </p:spPr>
        <p:txBody>
          <a:bodyPr wrap="square" lIns="160000" tIns="120000" rIns="160000" bIns="120000" anchor="t" rtlCol="1"/>
          <a:lstStyle/>
          <a:p>
            <a:pPr algn="ctr" rtl="1"/>
            <a:r>
              <a:rPr lang="ar-EG" sz="1100" b="1" dirty="0">
                <a:solidFill>
                  <a:srgbClr val="0C2237"/>
                </a:solidFill>
                <a:latin typeface="Cairo"/>
                <a:cs typeface="Cairo"/>
              </a:rPr>
              <a:t>SLIDE 02 // PROBLEM &amp; GOAL</a:t>
            </a:r>
          </a:p>
        </p:txBody>
      </p:sp>
      <p:sp>
        <p:nvSpPr>
          <p:cNvPr id="6" name="Shape 6"/>
          <p:cNvSpPr/>
          <p:nvPr/>
        </p:nvSpPr>
        <p:spPr>
          <a:xfrm>
            <a:off x="650000" y="1150000"/>
            <a:ext cx="10892000" cy="1250000"/>
          </a:xfrm>
          <a:prstGeom prst="rect">
            <a:avLst/>
          </a:prstGeom>
          <a:solidFill>
            <a:srgbClr val="FFFDF6"/>
          </a:solidFill>
          <a:ln>
            <a:noFill/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2800" b="1" dirty="0">
                <a:solidFill>
                  <a:srgbClr val="10283F"/>
                </a:solidFill>
                <a:latin typeface="Cairo"/>
                <a:cs typeface="Cairo"/>
              </a:rPr>
              <a:t>المشكلة والهدف: كيف نجمع بين الهوية والسرية؟</a:t>
            </a:r>
          </a:p>
          <a:p>
            <a:pPr algn="r" rtl="1"/>
            <a:r>
              <a:rPr lang="ar-EG" sz="1500" b="0" dirty="0">
                <a:solidFill>
                  <a:srgbClr val="FF4453"/>
                </a:solidFill>
                <a:latin typeface="Cairo"/>
                <a:cs typeface="Cairo"/>
              </a:rPr>
              <a:t>تواجه أنظمة التصويت الرقمي معضلة مزدوجة بين منع التزوير وحماية سرية الاختيار الانتخابي</a:t>
            </a:r>
          </a:p>
        </p:txBody>
      </p:sp>
      <p:sp>
        <p:nvSpPr>
          <p:cNvPr id="7" name="Shape 7"/>
          <p:cNvSpPr/>
          <p:nvPr/>
        </p:nvSpPr>
        <p:spPr>
          <a:xfrm>
            <a:off x="6271000" y="2585000"/>
            <a:ext cx="5336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6206000" y="2520000"/>
            <a:ext cx="5336000" cy="3150000"/>
          </a:xfrm>
          <a:prstGeom prst="rect">
            <a:avLst/>
          </a:prstGeom>
          <a:solidFill>
            <a:srgbClr val="EEF8F6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التحدي الأول: منع التزوير وانتحال الهوية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منع استخدام أرقام قومية وهمية أو غير متطابقة مع الميلاد والمحافظة.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منع التصويت بصورة ثابتة أو فيديو مسجّل أمام الكاميرا.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ضمان صوت واحد فقط لكل رقم قومي.</a:t>
            </a:r>
          </a:p>
        </p:txBody>
      </p:sp>
      <p:sp>
        <p:nvSpPr>
          <p:cNvPr id="9" name="Shape 9"/>
          <p:cNvSpPr/>
          <p:nvPr/>
        </p:nvSpPr>
        <p:spPr>
          <a:xfrm>
            <a:off x="715000" y="2585000"/>
            <a:ext cx="5336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650000" y="2520000"/>
            <a:ext cx="5336000" cy="3150000"/>
          </a:xfrm>
          <a:prstGeom prst="rect">
            <a:avLst/>
          </a:prstGeom>
          <a:solidFill>
            <a:srgbClr val="FFF8CC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التحدي الثاني: حماية سرية الصوت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منع تخزين معرف الناخب بجانب المرشح المختار في نفس الجدول.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منح الناخب إيصالاً رقمياً يثبت احتساب صوته دون كشف اختياره.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توفير سجل تدقيق أمني شفاف لا ينتهك الخصوصية.</a:t>
            </a:r>
          </a:p>
        </p:txBody>
      </p:sp>
      <p:sp>
        <p:nvSpPr>
          <p:cNvPr id="11" name="Shape 11"/>
          <p:cNvSpPr/>
          <p:nvPr/>
        </p:nvSpPr>
        <p:spPr>
          <a:xfrm>
            <a:off x="650000" y="5850000"/>
            <a:ext cx="10892000" cy="420000"/>
          </a:xfrm>
          <a:prstGeom prst="rect">
            <a:avLst/>
          </a:prstGeom>
          <a:solidFill>
            <a:srgbClr val="F2F0E8"/>
          </a:solidFill>
          <a:ln w="127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100" b="1" dirty="0">
                <a:solidFill>
                  <a:srgbClr val="68727B"/>
                </a:solidFill>
                <a:latin typeface="Cairo"/>
                <a:cs typeface="Cairo"/>
              </a:rPr>
              <a:t>مشروع صوت موثّق — منصة التصويت الإلكتروني بالتحقق البيومتري   |   الشريحة 2 من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20000" y="380000"/>
            <a:ext cx="11352000" cy="6100000"/>
          </a:xfrm>
          <a:prstGeom prst="rect">
            <a:avLst/>
          </a:prstGeom>
          <a:solidFill>
            <a:srgbClr val="FFFDF6"/>
          </a:solidFill>
          <a:ln w="38100">
            <a:solidFill>
              <a:srgbClr val="0C2237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00000" y="520000"/>
            <a:ext cx="10992000" cy="520000"/>
          </a:xfrm>
          <a:prstGeom prst="rect">
            <a:avLst/>
          </a:prstGeom>
          <a:solidFill>
            <a:srgbClr val="0C2237"/>
          </a:solidFill>
          <a:ln w="1905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300" b="1" dirty="0">
                <a:solidFill>
                  <a:srgbClr val="58D5CC"/>
                </a:solidFill>
                <a:latin typeface="Cairo"/>
                <a:cs typeface="Cairo"/>
              </a:rPr>
              <a:t>صوت موثّق // BIOMETRIC BALLOT LAB   |   SLIDE 03 // 4 CORE PILLARS</a:t>
            </a:r>
          </a:p>
        </p:txBody>
      </p:sp>
      <p:sp>
        <p:nvSpPr>
          <p:cNvPr id="5" name="Shape 5"/>
          <p:cNvSpPr/>
          <p:nvPr/>
        </p:nvSpPr>
        <p:spPr>
          <a:xfrm>
            <a:off x="720000" y="210000"/>
            <a:ext cx="2400000" cy="310000"/>
          </a:xfrm>
          <a:prstGeom prst="rect">
            <a:avLst/>
          </a:prstGeom>
          <a:solidFill>
            <a:srgbClr val="E6BD5D"/>
          </a:solidFill>
          <a:ln w="25400">
            <a:solidFill>
              <a:srgbClr val="0C2237"/>
            </a:solidFill>
          </a:ln>
        </p:spPr>
        <p:txBody>
          <a:bodyPr wrap="square" lIns="160000" tIns="120000" rIns="160000" bIns="120000" anchor="t" rtlCol="1"/>
          <a:lstStyle/>
          <a:p>
            <a:pPr algn="ctr" rtl="1"/>
            <a:r>
              <a:rPr lang="ar-EG" sz="1100" b="1" dirty="0">
                <a:solidFill>
                  <a:srgbClr val="0C2237"/>
                </a:solidFill>
                <a:latin typeface="Cairo"/>
                <a:cs typeface="Cairo"/>
              </a:rPr>
              <a:t>SLIDE 03 // 4 CORE PILLARS</a:t>
            </a:r>
          </a:p>
        </p:txBody>
      </p:sp>
      <p:sp>
        <p:nvSpPr>
          <p:cNvPr id="6" name="Shape 6"/>
          <p:cNvSpPr/>
          <p:nvPr/>
        </p:nvSpPr>
        <p:spPr>
          <a:xfrm>
            <a:off x="650000" y="1150000"/>
            <a:ext cx="10892000" cy="1250000"/>
          </a:xfrm>
          <a:prstGeom prst="rect">
            <a:avLst/>
          </a:prstGeom>
          <a:solidFill>
            <a:srgbClr val="FFFDF6"/>
          </a:solidFill>
          <a:ln>
            <a:noFill/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2800" b="1" dirty="0">
                <a:solidFill>
                  <a:srgbClr val="10283F"/>
                </a:solidFill>
                <a:latin typeface="Cairo"/>
                <a:cs typeface="Cairo"/>
              </a:rPr>
              <a:t>الركائز الأربع لمنصة «صوت موثّق»</a:t>
            </a:r>
          </a:p>
          <a:p>
            <a:pPr algn="r" rtl="1"/>
            <a:r>
              <a:rPr lang="ar-EG" sz="1500" b="0" dirty="0">
                <a:solidFill>
                  <a:srgbClr val="FF4453"/>
                </a:solidFill>
                <a:latin typeface="Cairo"/>
                <a:cs typeface="Cairo"/>
              </a:rPr>
              <a:t>أربع طبقات حماية متسلسلة تسلّم كل طبقة منها للأخرى بأقل قدر من البيانات</a:t>
            </a:r>
          </a:p>
        </p:txBody>
      </p:sp>
      <p:sp>
        <p:nvSpPr>
          <p:cNvPr id="7" name="Shape 7"/>
          <p:cNvSpPr/>
          <p:nvPr/>
        </p:nvSpPr>
        <p:spPr>
          <a:xfrm>
            <a:off x="8123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058000" y="2520000"/>
            <a:ext cx="3484000" cy="3150000"/>
          </a:xfrm>
          <a:prstGeom prst="rect">
            <a:avLst/>
          </a:prstGeom>
          <a:solidFill>
            <a:srgbClr val="EEF8F6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1. فحص الرقم القومي والاسم العربي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تحليل ذكي للـ 14 رقماً (القرن، الميلاد، المحافظة، النوع) ومطابقة الأسماء العربية المركبة بدقة تفوق 95%.</a:t>
            </a:r>
          </a:p>
        </p:txBody>
      </p:sp>
      <p:sp>
        <p:nvSpPr>
          <p:cNvPr id="9" name="Shape 9"/>
          <p:cNvSpPr/>
          <p:nvPr/>
        </p:nvSpPr>
        <p:spPr>
          <a:xfrm>
            <a:off x="4419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4354000" y="2520000"/>
            <a:ext cx="3484000" cy="3150000"/>
          </a:xfrm>
          <a:prstGeom prst="rect">
            <a:avLst/>
          </a:prstGeom>
          <a:solidFill>
            <a:srgbClr val="FFF8CC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2. التحقق البيومتري بالكاميرا الحية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استخراج 128 نقطة مميزة للوجه عبر الشبكات العصبية ومقارنتها بصورة البطاقة مع اختبار حركات الحياة.</a:t>
            </a:r>
          </a:p>
        </p:txBody>
      </p:sp>
      <p:sp>
        <p:nvSpPr>
          <p:cNvPr id="11" name="Shape 11"/>
          <p:cNvSpPr/>
          <p:nvPr/>
        </p:nvSpPr>
        <p:spPr>
          <a:xfrm>
            <a:off x="715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650000" y="2520000"/>
            <a:ext cx="3484000" cy="31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3. عزل الهوية وحرق رمز الاقتراع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إصدار رمز اقتراع سري مؤقت يُحرق ذرياً عند التصويت دون كتابة هوية الناخب في جدول الأصوات + إيصال رقمي.</a:t>
            </a:r>
          </a:p>
        </p:txBody>
      </p:sp>
      <p:sp>
        <p:nvSpPr>
          <p:cNvPr id="13" name="Shape 13"/>
          <p:cNvSpPr/>
          <p:nvPr/>
        </p:nvSpPr>
        <p:spPr>
          <a:xfrm>
            <a:off x="650000" y="5850000"/>
            <a:ext cx="10892000" cy="420000"/>
          </a:xfrm>
          <a:prstGeom prst="rect">
            <a:avLst/>
          </a:prstGeom>
          <a:solidFill>
            <a:srgbClr val="F2F0E8"/>
          </a:solidFill>
          <a:ln w="127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100" b="1" dirty="0">
                <a:solidFill>
                  <a:srgbClr val="68727B"/>
                </a:solidFill>
                <a:latin typeface="Cairo"/>
                <a:cs typeface="Cairo"/>
              </a:rPr>
              <a:t>مشروع صوت موثّق — منصة التصويت الإلكتروني بالتحقق البيومتري   |   الشريحة 3 من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20000" y="380000"/>
            <a:ext cx="11352000" cy="6100000"/>
          </a:xfrm>
          <a:prstGeom prst="rect">
            <a:avLst/>
          </a:prstGeom>
          <a:solidFill>
            <a:srgbClr val="FFFDF6"/>
          </a:solidFill>
          <a:ln w="38100">
            <a:solidFill>
              <a:srgbClr val="0C2237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00000" y="520000"/>
            <a:ext cx="10992000" cy="520000"/>
          </a:xfrm>
          <a:prstGeom prst="rect">
            <a:avLst/>
          </a:prstGeom>
          <a:solidFill>
            <a:srgbClr val="0C2237"/>
          </a:solidFill>
          <a:ln w="1905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300" b="1" dirty="0">
                <a:solidFill>
                  <a:srgbClr val="58D5CC"/>
                </a:solidFill>
                <a:latin typeface="Cairo"/>
                <a:cs typeface="Cairo"/>
              </a:rPr>
              <a:t>صوت موثّق // BIOMETRIC BALLOT LAB   |   SLIDE 04 // VOTER JOURNEY</a:t>
            </a:r>
          </a:p>
        </p:txBody>
      </p:sp>
      <p:sp>
        <p:nvSpPr>
          <p:cNvPr id="5" name="Shape 5"/>
          <p:cNvSpPr/>
          <p:nvPr/>
        </p:nvSpPr>
        <p:spPr>
          <a:xfrm>
            <a:off x="720000" y="210000"/>
            <a:ext cx="2400000" cy="310000"/>
          </a:xfrm>
          <a:prstGeom prst="rect">
            <a:avLst/>
          </a:prstGeom>
          <a:solidFill>
            <a:srgbClr val="E6BD5D"/>
          </a:solidFill>
          <a:ln w="25400">
            <a:solidFill>
              <a:srgbClr val="0C2237"/>
            </a:solidFill>
          </a:ln>
        </p:spPr>
        <p:txBody>
          <a:bodyPr wrap="square" lIns="160000" tIns="120000" rIns="160000" bIns="120000" anchor="t" rtlCol="1"/>
          <a:lstStyle/>
          <a:p>
            <a:pPr algn="ctr" rtl="1"/>
            <a:r>
              <a:rPr lang="ar-EG" sz="1100" b="1" dirty="0">
                <a:solidFill>
                  <a:srgbClr val="0C2237"/>
                </a:solidFill>
                <a:latin typeface="Cairo"/>
                <a:cs typeface="Cairo"/>
              </a:rPr>
              <a:t>SLIDE 04 // VOTER JOURNEY</a:t>
            </a:r>
          </a:p>
        </p:txBody>
      </p:sp>
      <p:sp>
        <p:nvSpPr>
          <p:cNvPr id="6" name="Shape 6"/>
          <p:cNvSpPr/>
          <p:nvPr/>
        </p:nvSpPr>
        <p:spPr>
          <a:xfrm>
            <a:off x="650000" y="1150000"/>
            <a:ext cx="10892000" cy="1250000"/>
          </a:xfrm>
          <a:prstGeom prst="rect">
            <a:avLst/>
          </a:prstGeom>
          <a:solidFill>
            <a:srgbClr val="FFFDF6"/>
          </a:solidFill>
          <a:ln>
            <a:noFill/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2800" b="1" dirty="0">
                <a:solidFill>
                  <a:srgbClr val="10283F"/>
                </a:solidFill>
                <a:latin typeface="Cairo"/>
                <a:cs typeface="Cairo"/>
              </a:rPr>
              <a:t>طريقة عمل الموقع — رحلة الناخب الكاملة</a:t>
            </a:r>
          </a:p>
          <a:p>
            <a:pPr algn="r" rtl="1"/>
            <a:r>
              <a:rPr lang="ar-EG" sz="1500" b="0" dirty="0">
                <a:solidFill>
                  <a:srgbClr val="FF4453"/>
                </a:solidFill>
                <a:latin typeface="Cairo"/>
                <a:cs typeface="Cairo"/>
              </a:rPr>
              <a:t>تتم عملية التصويت كاملة في أقل من 60 ثانية عبر 4 محطات متتالية</a:t>
            </a:r>
          </a:p>
        </p:txBody>
      </p:sp>
      <p:sp>
        <p:nvSpPr>
          <p:cNvPr id="7" name="Shape 7"/>
          <p:cNvSpPr/>
          <p:nvPr/>
        </p:nvSpPr>
        <p:spPr>
          <a:xfrm>
            <a:off x="6271000" y="2585000"/>
            <a:ext cx="5336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6206000" y="2520000"/>
            <a:ext cx="5336000" cy="3150000"/>
          </a:xfrm>
          <a:prstGeom prst="rect">
            <a:avLst/>
          </a:prstGeom>
          <a:solidFill>
            <a:srgbClr val="EEF8F6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المرحلة 01 و 02: التسجيل والكاميرا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المحطة 1 (/register): إدخال الاسم والرقم القومي أو اختيار بطاقة تجربة جاهزة بضغطة زر.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المحطة 2 (/verify): فتح الكاميرا مباشرة ومطابقة السيلفي مع صورة البطاقة المرجعية.</a:t>
            </a:r>
          </a:p>
        </p:txBody>
      </p:sp>
      <p:sp>
        <p:nvSpPr>
          <p:cNvPr id="9" name="Shape 9"/>
          <p:cNvSpPr/>
          <p:nvPr/>
        </p:nvSpPr>
        <p:spPr>
          <a:xfrm>
            <a:off x="715000" y="2585000"/>
            <a:ext cx="5336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650000" y="2520000"/>
            <a:ext cx="5336000" cy="3150000"/>
          </a:xfrm>
          <a:prstGeom prst="rect">
            <a:avLst/>
          </a:prstGeom>
          <a:solidFill>
            <a:srgbClr val="FFF8CC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المرحلة 03 و 04: الاقتراع والإيصال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المحطة 3 (/vote): اختيار المرشح داخل كبسولة الاقتراع المعزولة وتأكيد الإيداع.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المحطة 4 (/receipt): استلام كود الإيصال الفريد (XXXXX-XXXXX) وفحصه في (/verify-receipt).</a:t>
            </a:r>
          </a:p>
        </p:txBody>
      </p:sp>
      <p:sp>
        <p:nvSpPr>
          <p:cNvPr id="11" name="Shape 11"/>
          <p:cNvSpPr/>
          <p:nvPr/>
        </p:nvSpPr>
        <p:spPr>
          <a:xfrm>
            <a:off x="650000" y="5850000"/>
            <a:ext cx="10892000" cy="420000"/>
          </a:xfrm>
          <a:prstGeom prst="rect">
            <a:avLst/>
          </a:prstGeom>
          <a:solidFill>
            <a:srgbClr val="F2F0E8"/>
          </a:solidFill>
          <a:ln w="127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100" b="1" dirty="0">
                <a:solidFill>
                  <a:srgbClr val="68727B"/>
                </a:solidFill>
                <a:latin typeface="Cairo"/>
                <a:cs typeface="Cairo"/>
              </a:rPr>
              <a:t>مشروع صوت موثّق — منصة التصويت الإلكتروني بالتحقق البيومتري   |   الشريحة 4 من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20000" y="380000"/>
            <a:ext cx="11352000" cy="6100000"/>
          </a:xfrm>
          <a:prstGeom prst="rect">
            <a:avLst/>
          </a:prstGeom>
          <a:solidFill>
            <a:srgbClr val="FFFDF6"/>
          </a:solidFill>
          <a:ln w="38100">
            <a:solidFill>
              <a:srgbClr val="0C2237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00000" y="520000"/>
            <a:ext cx="10992000" cy="520000"/>
          </a:xfrm>
          <a:prstGeom prst="rect">
            <a:avLst/>
          </a:prstGeom>
          <a:solidFill>
            <a:srgbClr val="0C2237"/>
          </a:solidFill>
          <a:ln w="1905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300" b="1" dirty="0">
                <a:solidFill>
                  <a:srgbClr val="58D5CC"/>
                </a:solidFill>
                <a:latin typeface="Cairo"/>
                <a:cs typeface="Cairo"/>
              </a:rPr>
              <a:t>صوت موثّق // BIOMETRIC BALLOT LAB   |   SLIDE 05 // NATIONAL ID &amp; ARABIC NLP</a:t>
            </a:r>
          </a:p>
        </p:txBody>
      </p:sp>
      <p:sp>
        <p:nvSpPr>
          <p:cNvPr id="5" name="Shape 5"/>
          <p:cNvSpPr/>
          <p:nvPr/>
        </p:nvSpPr>
        <p:spPr>
          <a:xfrm>
            <a:off x="720000" y="210000"/>
            <a:ext cx="2400000" cy="310000"/>
          </a:xfrm>
          <a:prstGeom prst="rect">
            <a:avLst/>
          </a:prstGeom>
          <a:solidFill>
            <a:srgbClr val="E6BD5D"/>
          </a:solidFill>
          <a:ln w="25400">
            <a:solidFill>
              <a:srgbClr val="0C2237"/>
            </a:solidFill>
          </a:ln>
        </p:spPr>
        <p:txBody>
          <a:bodyPr wrap="square" lIns="160000" tIns="120000" rIns="160000" bIns="120000" anchor="t" rtlCol="1"/>
          <a:lstStyle/>
          <a:p>
            <a:pPr algn="ctr" rtl="1"/>
            <a:r>
              <a:rPr lang="ar-EG" sz="1100" b="1" dirty="0">
                <a:solidFill>
                  <a:srgbClr val="0C2237"/>
                </a:solidFill>
                <a:latin typeface="Cairo"/>
                <a:cs typeface="Cairo"/>
              </a:rPr>
              <a:t>SLIDE 05 // NATIONAL ID &amp; ARABIC NLP</a:t>
            </a:r>
          </a:p>
        </p:txBody>
      </p:sp>
      <p:sp>
        <p:nvSpPr>
          <p:cNvPr id="6" name="Shape 6"/>
          <p:cNvSpPr/>
          <p:nvPr/>
        </p:nvSpPr>
        <p:spPr>
          <a:xfrm>
            <a:off x="650000" y="1150000"/>
            <a:ext cx="10892000" cy="1250000"/>
          </a:xfrm>
          <a:prstGeom prst="rect">
            <a:avLst/>
          </a:prstGeom>
          <a:solidFill>
            <a:srgbClr val="FFFDF6"/>
          </a:solidFill>
          <a:ln>
            <a:noFill/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2800" b="1" dirty="0">
                <a:solidFill>
                  <a:srgbClr val="10283F"/>
                </a:solidFill>
                <a:latin typeface="Cairo"/>
                <a:cs typeface="Cairo"/>
              </a:rPr>
              <a:t>تشريح الرقم القومي المصري ومطابقة الاسم العربي</a:t>
            </a:r>
          </a:p>
          <a:p>
            <a:pPr algn="r" rtl="1"/>
            <a:r>
              <a:rPr lang="ar-EG" sz="1500" b="0" dirty="0">
                <a:solidFill>
                  <a:srgbClr val="FF4453"/>
                </a:solidFill>
                <a:latin typeface="Cairo"/>
                <a:cs typeface="Cairo"/>
              </a:rPr>
              <a:t>مثال الرقم القومي التجريبي: 31005292501518 (مواليد 2010-05-29 — محافظة أسيوط — ذكر)</a:t>
            </a:r>
          </a:p>
        </p:txBody>
      </p:sp>
      <p:sp>
        <p:nvSpPr>
          <p:cNvPr id="7" name="Shape 7"/>
          <p:cNvSpPr/>
          <p:nvPr/>
        </p:nvSpPr>
        <p:spPr>
          <a:xfrm>
            <a:off x="6271000" y="2585000"/>
            <a:ext cx="5336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6206000" y="2520000"/>
            <a:ext cx="5336000" cy="3150000"/>
          </a:xfrm>
          <a:prstGeom prst="rect">
            <a:avLst/>
          </a:prstGeom>
          <a:solidFill>
            <a:srgbClr val="EEF8F6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قراءة وتحليل الـ 14 رقماً تلقائياً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الخانة 1: القرن (2 = 1900–1999، 3 = 2000–2099).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الخانات 2–7: تاريخ الميلاد (يُستخرج ويُطابق تلقائياً).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الخانتان 8–9: كود المحافظة (01 القاهرة، 21 الجيزة، 25 أسيوط...).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الخانة 13: النوع (فردي = ذكر، زوجي = أنثى).</a:t>
            </a:r>
          </a:p>
        </p:txBody>
      </p:sp>
      <p:sp>
        <p:nvSpPr>
          <p:cNvPr id="9" name="Shape 9"/>
          <p:cNvSpPr/>
          <p:nvPr/>
        </p:nvSpPr>
        <p:spPr>
          <a:xfrm>
            <a:off x="715000" y="2585000"/>
            <a:ext cx="5336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650000" y="2520000"/>
            <a:ext cx="5336000" cy="3150000"/>
          </a:xfrm>
          <a:prstGeom prst="rect">
            <a:avLst/>
          </a:prstGeom>
          <a:solidFill>
            <a:srgbClr val="FFF8CC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محرك المطابقة العربية وتشفير الهوية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توحيد الحروف العربية (أ/إ/آ ← ا، ى ← ي، ة ← ه) ومعالجة الأسماء المركبة مثل (عبد الرحمن ↔ عبدالرحمن = 95.3%).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لا يُحفظ الرقم القومي كنص صريح بل كبصمة HMAC-SHA256 مع ملح سري.</a:t>
            </a:r>
          </a:p>
        </p:txBody>
      </p:sp>
      <p:sp>
        <p:nvSpPr>
          <p:cNvPr id="11" name="Shape 11"/>
          <p:cNvSpPr/>
          <p:nvPr/>
        </p:nvSpPr>
        <p:spPr>
          <a:xfrm>
            <a:off x="650000" y="5850000"/>
            <a:ext cx="10892000" cy="420000"/>
          </a:xfrm>
          <a:prstGeom prst="rect">
            <a:avLst/>
          </a:prstGeom>
          <a:solidFill>
            <a:srgbClr val="F2F0E8"/>
          </a:solidFill>
          <a:ln w="127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100" b="1" dirty="0">
                <a:solidFill>
                  <a:srgbClr val="68727B"/>
                </a:solidFill>
                <a:latin typeface="Cairo"/>
                <a:cs typeface="Cairo"/>
              </a:rPr>
              <a:t>مشروع صوت موثّق — منصة التصويت الإلكتروني بالتحقق البيومتري   |   الشريحة 5 من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20000" y="380000"/>
            <a:ext cx="11352000" cy="6100000"/>
          </a:xfrm>
          <a:prstGeom prst="rect">
            <a:avLst/>
          </a:prstGeom>
          <a:solidFill>
            <a:srgbClr val="FFFDF6"/>
          </a:solidFill>
          <a:ln w="38100">
            <a:solidFill>
              <a:srgbClr val="0C2237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00000" y="520000"/>
            <a:ext cx="10992000" cy="520000"/>
          </a:xfrm>
          <a:prstGeom prst="rect">
            <a:avLst/>
          </a:prstGeom>
          <a:solidFill>
            <a:srgbClr val="0C2237"/>
          </a:solidFill>
          <a:ln w="1905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300" b="1" dirty="0">
                <a:solidFill>
                  <a:srgbClr val="58D5CC"/>
                </a:solidFill>
                <a:latin typeface="Cairo"/>
                <a:cs typeface="Cairo"/>
              </a:rPr>
              <a:t>صوت موثّق // BIOMETRIC BALLOT LAB   |   SLIDE 06 // CAMERA &amp; 128-D AI</a:t>
            </a:r>
          </a:p>
        </p:txBody>
      </p:sp>
      <p:sp>
        <p:nvSpPr>
          <p:cNvPr id="5" name="Shape 5"/>
          <p:cNvSpPr/>
          <p:nvPr/>
        </p:nvSpPr>
        <p:spPr>
          <a:xfrm>
            <a:off x="720000" y="210000"/>
            <a:ext cx="2400000" cy="310000"/>
          </a:xfrm>
          <a:prstGeom prst="rect">
            <a:avLst/>
          </a:prstGeom>
          <a:solidFill>
            <a:srgbClr val="E6BD5D"/>
          </a:solidFill>
          <a:ln w="25400">
            <a:solidFill>
              <a:srgbClr val="0C2237"/>
            </a:solidFill>
          </a:ln>
        </p:spPr>
        <p:txBody>
          <a:bodyPr wrap="square" lIns="160000" tIns="120000" rIns="160000" bIns="120000" anchor="t" rtlCol="1"/>
          <a:lstStyle/>
          <a:p>
            <a:pPr algn="ctr" rtl="1"/>
            <a:r>
              <a:rPr lang="ar-EG" sz="1100" b="1" dirty="0">
                <a:solidFill>
                  <a:srgbClr val="0C2237"/>
                </a:solidFill>
                <a:latin typeface="Cairo"/>
                <a:cs typeface="Cairo"/>
              </a:rPr>
              <a:t>SLIDE 06 // CAMERA &amp; 128-D AI</a:t>
            </a:r>
          </a:p>
        </p:txBody>
      </p:sp>
      <p:sp>
        <p:nvSpPr>
          <p:cNvPr id="6" name="Shape 6"/>
          <p:cNvSpPr/>
          <p:nvPr/>
        </p:nvSpPr>
        <p:spPr>
          <a:xfrm>
            <a:off x="650000" y="1150000"/>
            <a:ext cx="10892000" cy="1250000"/>
          </a:xfrm>
          <a:prstGeom prst="rect">
            <a:avLst/>
          </a:prstGeom>
          <a:solidFill>
            <a:srgbClr val="FFFDF6"/>
          </a:solidFill>
          <a:ln>
            <a:noFill/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2800" b="1" dirty="0">
                <a:solidFill>
                  <a:srgbClr val="10283F"/>
                </a:solidFill>
                <a:latin typeface="Cairo"/>
                <a:cs typeface="Cairo"/>
              </a:rPr>
              <a:t>كيف تعمل الكاميرا ومطابقة الوجه بالذكاء الاصطناعي؟</a:t>
            </a:r>
          </a:p>
          <a:p>
            <a:pPr algn="r" rtl="1"/>
            <a:r>
              <a:rPr lang="ar-EG" sz="1500" b="0" dirty="0">
                <a:solidFill>
                  <a:srgbClr val="FF4453"/>
                </a:solidFill>
                <a:latin typeface="Cairo"/>
                <a:cs typeface="Cairo"/>
              </a:rPr>
              <a:t>حل جذري لعمل الكاميرا على جميع المتصفحات والأجهزة مع محاكي تفاعلي ذكي</a:t>
            </a:r>
          </a:p>
        </p:txBody>
      </p:sp>
      <p:sp>
        <p:nvSpPr>
          <p:cNvPr id="7" name="Shape 7"/>
          <p:cNvSpPr/>
          <p:nvPr/>
        </p:nvSpPr>
        <p:spPr>
          <a:xfrm>
            <a:off x="8123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058000" y="2520000"/>
            <a:ext cx="3484000" cy="3150000"/>
          </a:xfrm>
          <a:prstGeom prst="rect">
            <a:avLst/>
          </a:prstGeom>
          <a:solidFill>
            <a:srgbClr val="EEF8F6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البصمة العصبية المحلية (128-D)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تحميل مكتبة face-api وأوزان الشبكات العصبية محلياً من (/models) لاستخراج متجه من 128 رقماً يمثل ملامح الوجه وحساب المسافة الإقليدية.</a:t>
            </a:r>
          </a:p>
        </p:txBody>
      </p:sp>
      <p:sp>
        <p:nvSpPr>
          <p:cNvPr id="9" name="Shape 9"/>
          <p:cNvSpPr/>
          <p:nvPr/>
        </p:nvSpPr>
        <p:spPr>
          <a:xfrm>
            <a:off x="4419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4354000" y="2520000"/>
            <a:ext cx="3484000" cy="3150000"/>
          </a:xfrm>
          <a:prstGeom prst="rect">
            <a:avLst/>
          </a:prstGeom>
          <a:solidFill>
            <a:srgbClr val="FFF8CC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التدرج الذكي لفتح الكاميرا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تجربة قيود الكاميرا تدريجياً (640x480 ثم facingMode ثم video:true ثم enumerateDevices) مع ترويسة Permissions-Policy: camera=*.</a:t>
            </a:r>
          </a:p>
        </p:txBody>
      </p:sp>
      <p:sp>
        <p:nvSpPr>
          <p:cNvPr id="11" name="Shape 11"/>
          <p:cNvSpPr/>
          <p:nvPr/>
        </p:nvSpPr>
        <p:spPr>
          <a:xfrm>
            <a:off x="715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650000" y="2520000"/>
            <a:ext cx="3484000" cy="31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المحاكي التفاعلي الذكي للكاميرا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عند عدم توفر كاميرا فعلية أو حظر الإذن، يعمل بث فيديو حي (canvas.captureStream) يعرض صورة الناخب بحركة حيوية لإتمام التجربة.</a:t>
            </a:r>
          </a:p>
        </p:txBody>
      </p:sp>
      <p:sp>
        <p:nvSpPr>
          <p:cNvPr id="13" name="Shape 13"/>
          <p:cNvSpPr/>
          <p:nvPr/>
        </p:nvSpPr>
        <p:spPr>
          <a:xfrm>
            <a:off x="650000" y="5850000"/>
            <a:ext cx="10892000" cy="420000"/>
          </a:xfrm>
          <a:prstGeom prst="rect">
            <a:avLst/>
          </a:prstGeom>
          <a:solidFill>
            <a:srgbClr val="F2F0E8"/>
          </a:solidFill>
          <a:ln w="127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100" b="1" dirty="0">
                <a:solidFill>
                  <a:srgbClr val="68727B"/>
                </a:solidFill>
                <a:latin typeface="Cairo"/>
                <a:cs typeface="Cairo"/>
              </a:rPr>
              <a:t>مشروع صوت موثّق — منصة التصويت الإلكتروني بالتحقق البيومتري   |   الشريحة 6 من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20000" y="380000"/>
            <a:ext cx="11352000" cy="6100000"/>
          </a:xfrm>
          <a:prstGeom prst="rect">
            <a:avLst/>
          </a:prstGeom>
          <a:solidFill>
            <a:srgbClr val="FFFDF6"/>
          </a:solidFill>
          <a:ln w="38100">
            <a:solidFill>
              <a:srgbClr val="0C2237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00000" y="520000"/>
            <a:ext cx="10992000" cy="520000"/>
          </a:xfrm>
          <a:prstGeom prst="rect">
            <a:avLst/>
          </a:prstGeom>
          <a:solidFill>
            <a:srgbClr val="0C2237"/>
          </a:solidFill>
          <a:ln w="1905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300" b="1" dirty="0">
                <a:solidFill>
                  <a:srgbClr val="58D5CC"/>
                </a:solidFill>
                <a:latin typeface="Cairo"/>
                <a:cs typeface="Cairo"/>
              </a:rPr>
              <a:t>صوت موثّق // BIOMETRIC BALLOT LAB   |   SLIDE 07 // 3-WAY DECISION ENGINE</a:t>
            </a:r>
          </a:p>
        </p:txBody>
      </p:sp>
      <p:sp>
        <p:nvSpPr>
          <p:cNvPr id="5" name="Shape 5"/>
          <p:cNvSpPr/>
          <p:nvPr/>
        </p:nvSpPr>
        <p:spPr>
          <a:xfrm>
            <a:off x="720000" y="210000"/>
            <a:ext cx="2400000" cy="310000"/>
          </a:xfrm>
          <a:prstGeom prst="rect">
            <a:avLst/>
          </a:prstGeom>
          <a:solidFill>
            <a:srgbClr val="E6BD5D"/>
          </a:solidFill>
          <a:ln w="25400">
            <a:solidFill>
              <a:srgbClr val="0C2237"/>
            </a:solidFill>
          </a:ln>
        </p:spPr>
        <p:txBody>
          <a:bodyPr wrap="square" lIns="160000" tIns="120000" rIns="160000" bIns="120000" anchor="t" rtlCol="1"/>
          <a:lstStyle/>
          <a:p>
            <a:pPr algn="ctr" rtl="1"/>
            <a:r>
              <a:rPr lang="ar-EG" sz="1100" b="1" dirty="0">
                <a:solidFill>
                  <a:srgbClr val="0C2237"/>
                </a:solidFill>
                <a:latin typeface="Cairo"/>
                <a:cs typeface="Cairo"/>
              </a:rPr>
              <a:t>SLIDE 07 // 3-WAY DECISION ENGINE</a:t>
            </a:r>
          </a:p>
        </p:txBody>
      </p:sp>
      <p:sp>
        <p:nvSpPr>
          <p:cNvPr id="6" name="Shape 6"/>
          <p:cNvSpPr/>
          <p:nvPr/>
        </p:nvSpPr>
        <p:spPr>
          <a:xfrm>
            <a:off x="650000" y="1150000"/>
            <a:ext cx="10892000" cy="1250000"/>
          </a:xfrm>
          <a:prstGeom prst="rect">
            <a:avLst/>
          </a:prstGeom>
          <a:solidFill>
            <a:srgbClr val="FFFDF6"/>
          </a:solidFill>
          <a:ln>
            <a:noFill/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2800" b="1" dirty="0">
                <a:solidFill>
                  <a:srgbClr val="10283F"/>
                </a:solidFill>
                <a:latin typeface="Cairo"/>
                <a:cs typeface="Cairo"/>
              </a:rPr>
              <a:t>محرك القرار الثلاثي في التحقق من الهوية</a:t>
            </a:r>
          </a:p>
          <a:p>
            <a:pPr algn="r" rtl="1"/>
            <a:r>
              <a:rPr lang="ar-EG" sz="1500" b="0" dirty="0">
                <a:solidFill>
                  <a:srgbClr val="FF4453"/>
                </a:solidFill>
                <a:latin typeface="Cairo"/>
                <a:cs typeface="Cairo"/>
              </a:rPr>
              <a:t>مصفوفة قرار مرنة تمنع التزوير ولا تحرم الناخب الحقيقي بسبب الإضاءة المتوسطة</a:t>
            </a:r>
          </a:p>
        </p:txBody>
      </p:sp>
      <p:sp>
        <p:nvSpPr>
          <p:cNvPr id="7" name="Shape 7"/>
          <p:cNvSpPr/>
          <p:nvPr/>
        </p:nvSpPr>
        <p:spPr>
          <a:xfrm>
            <a:off x="8123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058000" y="2520000"/>
            <a:ext cx="3484000" cy="3150000"/>
          </a:xfrm>
          <a:prstGeom prst="rect">
            <a:avLst/>
          </a:prstGeom>
          <a:solidFill>
            <a:srgbClr val="EEF8F6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1. قبول فوري (Approved ≥ 72%)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عند تطابق بصمة الوجه بنسبة 72% فأكثر مع نجاح فحص الحياة وجودة الصورة: يصدر رمز الاقتراع السري فوراً وينتقل الناخب للتصويت.</a:t>
            </a:r>
          </a:p>
        </p:txBody>
      </p:sp>
      <p:sp>
        <p:nvSpPr>
          <p:cNvPr id="9" name="Shape 9"/>
          <p:cNvSpPr/>
          <p:nvPr/>
        </p:nvSpPr>
        <p:spPr>
          <a:xfrm>
            <a:off x="4419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4354000" y="2520000"/>
            <a:ext cx="3484000" cy="3150000"/>
          </a:xfrm>
          <a:prstGeom prst="rect">
            <a:avLst/>
          </a:prstGeom>
          <a:solidFill>
            <a:srgbClr val="FFF8CC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2. مراجعة بشرية (Review 50%–72%)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في المنطقة الرمادية: يُحال الطلب إلى لجنة الإشراف لمراجعة الصورتين يدوياً، ويتابع الناخب طلبه عبر (/review-status).</a:t>
            </a:r>
          </a:p>
        </p:txBody>
      </p:sp>
      <p:sp>
        <p:nvSpPr>
          <p:cNvPr id="11" name="Shape 11"/>
          <p:cNvSpPr/>
          <p:nvPr/>
        </p:nvSpPr>
        <p:spPr>
          <a:xfrm>
            <a:off x="715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650000" y="2520000"/>
            <a:ext cx="3484000" cy="31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3. رفض وإعادة المحاولة (&lt; 50%)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عند انخفاض التشابه عن 50% أو فشل فحص الوجه: يُرفض الطلب مع توضيح السبب وإتاحة إعادة الالتقاط فوراً.</a:t>
            </a:r>
          </a:p>
        </p:txBody>
      </p:sp>
      <p:sp>
        <p:nvSpPr>
          <p:cNvPr id="13" name="Shape 13"/>
          <p:cNvSpPr/>
          <p:nvPr/>
        </p:nvSpPr>
        <p:spPr>
          <a:xfrm>
            <a:off x="650000" y="5850000"/>
            <a:ext cx="10892000" cy="420000"/>
          </a:xfrm>
          <a:prstGeom prst="rect">
            <a:avLst/>
          </a:prstGeom>
          <a:solidFill>
            <a:srgbClr val="F2F0E8"/>
          </a:solidFill>
          <a:ln w="127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100" b="1" dirty="0">
                <a:solidFill>
                  <a:srgbClr val="68727B"/>
                </a:solidFill>
                <a:latin typeface="Cairo"/>
                <a:cs typeface="Cairo"/>
              </a:rPr>
              <a:t>مشروع صوت موثّق — منصة التصويت الإلكتروني بالتحقق البيومتري   |   الشريحة 7 من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20000" y="380000"/>
            <a:ext cx="11352000" cy="6100000"/>
          </a:xfrm>
          <a:prstGeom prst="rect">
            <a:avLst/>
          </a:prstGeom>
          <a:solidFill>
            <a:srgbClr val="FFFDF6"/>
          </a:solidFill>
          <a:ln w="38100">
            <a:solidFill>
              <a:srgbClr val="0C2237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00000" y="520000"/>
            <a:ext cx="10992000" cy="520000"/>
          </a:xfrm>
          <a:prstGeom prst="rect">
            <a:avLst/>
          </a:prstGeom>
          <a:solidFill>
            <a:srgbClr val="0C2237"/>
          </a:solidFill>
          <a:ln w="1905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300" b="1" dirty="0">
                <a:solidFill>
                  <a:srgbClr val="58D5CC"/>
                </a:solidFill>
                <a:latin typeface="Cairo"/>
                <a:cs typeface="Cairo"/>
              </a:rPr>
              <a:t>صوت موثّق // BIOMETRIC BALLOT LAB   |   SLIDE 08 // ZERO-LINK ARCHITECTURE</a:t>
            </a:r>
          </a:p>
        </p:txBody>
      </p:sp>
      <p:sp>
        <p:nvSpPr>
          <p:cNvPr id="5" name="Shape 5"/>
          <p:cNvSpPr/>
          <p:nvPr/>
        </p:nvSpPr>
        <p:spPr>
          <a:xfrm>
            <a:off x="720000" y="210000"/>
            <a:ext cx="2400000" cy="310000"/>
          </a:xfrm>
          <a:prstGeom prst="rect">
            <a:avLst/>
          </a:prstGeom>
          <a:solidFill>
            <a:srgbClr val="E6BD5D"/>
          </a:solidFill>
          <a:ln w="25400">
            <a:solidFill>
              <a:srgbClr val="0C2237"/>
            </a:solidFill>
          </a:ln>
        </p:spPr>
        <p:txBody>
          <a:bodyPr wrap="square" lIns="160000" tIns="120000" rIns="160000" bIns="120000" anchor="t" rtlCol="1"/>
          <a:lstStyle/>
          <a:p>
            <a:pPr algn="ctr" rtl="1"/>
            <a:r>
              <a:rPr lang="ar-EG" sz="1100" b="1" dirty="0">
                <a:solidFill>
                  <a:srgbClr val="0C2237"/>
                </a:solidFill>
                <a:latin typeface="Cairo"/>
                <a:cs typeface="Cairo"/>
              </a:rPr>
              <a:t>SLIDE 08 // ZERO-LINK ARCHITECTURE</a:t>
            </a:r>
          </a:p>
        </p:txBody>
      </p:sp>
      <p:sp>
        <p:nvSpPr>
          <p:cNvPr id="6" name="Shape 6"/>
          <p:cNvSpPr/>
          <p:nvPr/>
        </p:nvSpPr>
        <p:spPr>
          <a:xfrm>
            <a:off x="650000" y="1150000"/>
            <a:ext cx="10892000" cy="1250000"/>
          </a:xfrm>
          <a:prstGeom prst="rect">
            <a:avLst/>
          </a:prstGeom>
          <a:solidFill>
            <a:srgbClr val="FFFDF6"/>
          </a:solidFill>
          <a:ln>
            <a:noFill/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2800" b="1" dirty="0">
                <a:solidFill>
                  <a:srgbClr val="10283F"/>
                </a:solidFill>
                <a:latin typeface="Cairo"/>
                <a:cs typeface="Cairo"/>
              </a:rPr>
              <a:t>المعمارية الأمنية: كيف نفصل الهوية عن الصوت؟</a:t>
            </a:r>
          </a:p>
          <a:p>
            <a:pPr algn="r" rtl="1"/>
            <a:r>
              <a:rPr lang="ar-EG" sz="1500" b="0" dirty="0">
                <a:solidFill>
                  <a:srgbClr val="FF4453"/>
                </a:solidFill>
                <a:latin typeface="Cairo"/>
                <a:cs typeface="Cairo"/>
              </a:rPr>
              <a:t>عزل كامل على مستوى جداول قاعدة البيانات يمنع أي ربط بين الناخب واختياره</a:t>
            </a:r>
          </a:p>
        </p:txBody>
      </p:sp>
      <p:sp>
        <p:nvSpPr>
          <p:cNvPr id="7" name="Shape 7"/>
          <p:cNvSpPr/>
          <p:nvPr/>
        </p:nvSpPr>
        <p:spPr>
          <a:xfrm>
            <a:off x="6271000" y="2585000"/>
            <a:ext cx="5336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6206000" y="2520000"/>
            <a:ext cx="5336000" cy="3150000"/>
          </a:xfrm>
          <a:prstGeom prst="rect">
            <a:avLst/>
          </a:prstGeom>
          <a:solidFill>
            <a:srgbClr val="EEF8F6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مسار الهوية (voters + vote_tokens)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يعرف فقط من الذي تحقق من هويته وهل استلم رمز اقتراع.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يحفظ بصمة الرقم القومي (identity_hash) وبصمة الرمز وتاريخ حرقه (used_at).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لا يحتوي على أي عمود للمرشح المختار.</a:t>
            </a:r>
          </a:p>
        </p:txBody>
      </p:sp>
      <p:sp>
        <p:nvSpPr>
          <p:cNvPr id="9" name="Shape 9"/>
          <p:cNvSpPr/>
          <p:nvPr/>
        </p:nvSpPr>
        <p:spPr>
          <a:xfrm>
            <a:off x="715000" y="2585000"/>
            <a:ext cx="5336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650000" y="2520000"/>
            <a:ext cx="5336000" cy="3150000"/>
          </a:xfrm>
          <a:prstGeom prst="rect">
            <a:avLst/>
          </a:prstGeom>
          <a:solidFill>
            <a:srgbClr val="FFF8CC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مسار الصندوق السري (ballots)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يحفظ فقط: رقم الاستحقاق (election_id)، ورقم المرشح (candidate_id)، وكود الإيصال (receipt_code)، ووقت الإيداع.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لا يحتوي على أي معرف للناخب أو رمز الاقتراع.</a:t>
            </a:r>
          </a:p>
        </p:txBody>
      </p:sp>
      <p:sp>
        <p:nvSpPr>
          <p:cNvPr id="11" name="Shape 11"/>
          <p:cNvSpPr/>
          <p:nvPr/>
        </p:nvSpPr>
        <p:spPr>
          <a:xfrm>
            <a:off x="650000" y="5850000"/>
            <a:ext cx="10892000" cy="420000"/>
          </a:xfrm>
          <a:prstGeom prst="rect">
            <a:avLst/>
          </a:prstGeom>
          <a:solidFill>
            <a:srgbClr val="F2F0E8"/>
          </a:solidFill>
          <a:ln w="127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100" b="1" dirty="0">
                <a:solidFill>
                  <a:srgbClr val="68727B"/>
                </a:solidFill>
                <a:latin typeface="Cairo"/>
                <a:cs typeface="Cairo"/>
              </a:rPr>
              <a:t>مشروع صوت موثّق — منصة التصويت الإلكتروني بالتحقق البيومتري   |   الشريحة 8 من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20000" y="380000"/>
            <a:ext cx="11352000" cy="6100000"/>
          </a:xfrm>
          <a:prstGeom prst="rect">
            <a:avLst/>
          </a:prstGeom>
          <a:solidFill>
            <a:srgbClr val="FFFDF6"/>
          </a:solidFill>
          <a:ln w="38100">
            <a:solidFill>
              <a:srgbClr val="0C2237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00000" y="520000"/>
            <a:ext cx="10992000" cy="520000"/>
          </a:xfrm>
          <a:prstGeom prst="rect">
            <a:avLst/>
          </a:prstGeom>
          <a:solidFill>
            <a:srgbClr val="0C2237"/>
          </a:solidFill>
          <a:ln w="1905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300" b="1" dirty="0">
                <a:solidFill>
                  <a:srgbClr val="58D5CC"/>
                </a:solidFill>
                <a:latin typeface="Cairo"/>
                <a:cs typeface="Cairo"/>
              </a:rPr>
              <a:t>صوت موثّق // BIOMETRIC BALLOT LAB   |   SLIDE 09 // HOW TO RUN</a:t>
            </a:r>
          </a:p>
        </p:txBody>
      </p:sp>
      <p:sp>
        <p:nvSpPr>
          <p:cNvPr id="5" name="Shape 5"/>
          <p:cNvSpPr/>
          <p:nvPr/>
        </p:nvSpPr>
        <p:spPr>
          <a:xfrm>
            <a:off x="720000" y="210000"/>
            <a:ext cx="2400000" cy="310000"/>
          </a:xfrm>
          <a:prstGeom prst="rect">
            <a:avLst/>
          </a:prstGeom>
          <a:solidFill>
            <a:srgbClr val="E6BD5D"/>
          </a:solidFill>
          <a:ln w="25400">
            <a:solidFill>
              <a:srgbClr val="0C2237"/>
            </a:solidFill>
          </a:ln>
        </p:spPr>
        <p:txBody>
          <a:bodyPr wrap="square" lIns="160000" tIns="120000" rIns="160000" bIns="120000" anchor="t" rtlCol="1"/>
          <a:lstStyle/>
          <a:p>
            <a:pPr algn="ctr" rtl="1"/>
            <a:r>
              <a:rPr lang="ar-EG" sz="1100" b="1" dirty="0">
                <a:solidFill>
                  <a:srgbClr val="0C2237"/>
                </a:solidFill>
                <a:latin typeface="Cairo"/>
                <a:cs typeface="Cairo"/>
              </a:rPr>
              <a:t>SLIDE 09 // HOW TO RUN</a:t>
            </a:r>
          </a:p>
        </p:txBody>
      </p:sp>
      <p:sp>
        <p:nvSpPr>
          <p:cNvPr id="6" name="Shape 6"/>
          <p:cNvSpPr/>
          <p:nvPr/>
        </p:nvSpPr>
        <p:spPr>
          <a:xfrm>
            <a:off x="650000" y="1150000"/>
            <a:ext cx="10892000" cy="1250000"/>
          </a:xfrm>
          <a:prstGeom prst="rect">
            <a:avLst/>
          </a:prstGeom>
          <a:solidFill>
            <a:srgbClr val="FFFDF6"/>
          </a:solidFill>
          <a:ln>
            <a:noFill/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2800" b="1" dirty="0">
                <a:solidFill>
                  <a:srgbClr val="10283F"/>
                </a:solidFill>
                <a:latin typeface="Cairo"/>
                <a:cs typeface="Cairo"/>
              </a:rPr>
              <a:t>طريقة تشغيل الموقع (التشغيل السريع وربط Supabase)</a:t>
            </a:r>
          </a:p>
          <a:p>
            <a:pPr algn="r" rtl="1"/>
            <a:r>
              <a:rPr lang="ar-EG" sz="1500" b="0" dirty="0">
                <a:solidFill>
                  <a:srgbClr val="FF4453"/>
                </a:solidFill>
                <a:latin typeface="Cairo"/>
                <a:cs typeface="Cairo"/>
              </a:rPr>
              <a:t>يعمل في 30 ثانية بدون أي إعدادات خارجية، ويدعم الترقية الفورية لـ PostgreSQL</a:t>
            </a:r>
          </a:p>
        </p:txBody>
      </p:sp>
      <p:sp>
        <p:nvSpPr>
          <p:cNvPr id="7" name="Shape 7"/>
          <p:cNvSpPr/>
          <p:nvPr/>
        </p:nvSpPr>
        <p:spPr>
          <a:xfrm>
            <a:off x="6271000" y="2585000"/>
            <a:ext cx="5336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6206000" y="2520000"/>
            <a:ext cx="5336000" cy="3150000"/>
          </a:xfrm>
          <a:prstGeom prst="rect">
            <a:avLst/>
          </a:prstGeom>
          <a:solidFill>
            <a:srgbClr val="EEF8F6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الوضع الأول: التشغيل السريع (Demo Mode)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شغّل الأمر: node server.js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افتح المتصفح على: http://localhost:3000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لوحة الإشراف: http://localhost:3000/admin (المفتاح: per-aa-admin)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ينشئ تلقائياً قاعدة محلية بـ 4 مرشحين و 3 بطاقات جاهزة.</a:t>
            </a:r>
          </a:p>
        </p:txBody>
      </p:sp>
      <p:sp>
        <p:nvSpPr>
          <p:cNvPr id="9" name="Shape 9"/>
          <p:cNvSpPr/>
          <p:nvPr/>
        </p:nvSpPr>
        <p:spPr>
          <a:xfrm>
            <a:off x="715000" y="2585000"/>
            <a:ext cx="5336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650000" y="2520000"/>
            <a:ext cx="5336000" cy="3150000"/>
          </a:xfrm>
          <a:prstGeom prst="rect">
            <a:avLst/>
          </a:prstGeom>
          <a:solidFill>
            <a:srgbClr val="FFF8CC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الوضع الثاني: ربط Supabase PostgreSQL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نفّذ ملف supabase/schema.sql في SQL Editor.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انسخ .env.example إلى .env وأضف SUPABASE_URL و SUPABASE_SERVICE_ROLE_KEY.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شغّل node server.js أو انشره مباشرة على Vercel.</a:t>
            </a:r>
          </a:p>
        </p:txBody>
      </p:sp>
      <p:sp>
        <p:nvSpPr>
          <p:cNvPr id="11" name="Shape 11"/>
          <p:cNvSpPr/>
          <p:nvPr/>
        </p:nvSpPr>
        <p:spPr>
          <a:xfrm>
            <a:off x="650000" y="5850000"/>
            <a:ext cx="10892000" cy="420000"/>
          </a:xfrm>
          <a:prstGeom prst="rect">
            <a:avLst/>
          </a:prstGeom>
          <a:solidFill>
            <a:srgbClr val="F2F0E8"/>
          </a:solidFill>
          <a:ln w="127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100" b="1" dirty="0">
                <a:solidFill>
                  <a:srgbClr val="68727B"/>
                </a:solidFill>
                <a:latin typeface="Cairo"/>
                <a:cs typeface="Cairo"/>
              </a:rPr>
              <a:t>مشروع صوت موثّق — منصة التصويت الإلكتروني بالتحقق البيومتري   |   الشريحة 9 من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20000" y="380000"/>
            <a:ext cx="11352000" cy="6100000"/>
          </a:xfrm>
          <a:prstGeom prst="rect">
            <a:avLst/>
          </a:prstGeom>
          <a:solidFill>
            <a:srgbClr val="FFFDF6"/>
          </a:solidFill>
          <a:ln w="38100">
            <a:solidFill>
              <a:srgbClr val="0C2237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00000" y="520000"/>
            <a:ext cx="10992000" cy="520000"/>
          </a:xfrm>
          <a:prstGeom prst="rect">
            <a:avLst/>
          </a:prstGeom>
          <a:solidFill>
            <a:srgbClr val="0C2237"/>
          </a:solidFill>
          <a:ln w="1905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300" b="1" dirty="0">
                <a:solidFill>
                  <a:srgbClr val="58D5CC"/>
                </a:solidFill>
                <a:latin typeface="Cairo"/>
                <a:cs typeface="Cairo"/>
              </a:rPr>
              <a:t>صوت موثّق // BIOMETRIC BALLOT LAB   |   SLIDE 10 // ADMIN &amp; ID STUDIO</a:t>
            </a:r>
          </a:p>
        </p:txBody>
      </p:sp>
      <p:sp>
        <p:nvSpPr>
          <p:cNvPr id="5" name="Shape 5"/>
          <p:cNvSpPr/>
          <p:nvPr/>
        </p:nvSpPr>
        <p:spPr>
          <a:xfrm>
            <a:off x="720000" y="210000"/>
            <a:ext cx="2400000" cy="310000"/>
          </a:xfrm>
          <a:prstGeom prst="rect">
            <a:avLst/>
          </a:prstGeom>
          <a:solidFill>
            <a:srgbClr val="E6BD5D"/>
          </a:solidFill>
          <a:ln w="25400">
            <a:solidFill>
              <a:srgbClr val="0C2237"/>
            </a:solidFill>
          </a:ln>
        </p:spPr>
        <p:txBody>
          <a:bodyPr wrap="square" lIns="160000" tIns="120000" rIns="160000" bIns="120000" anchor="t" rtlCol="1"/>
          <a:lstStyle/>
          <a:p>
            <a:pPr algn="ctr" rtl="1"/>
            <a:r>
              <a:rPr lang="ar-EG" sz="1100" b="1" dirty="0">
                <a:solidFill>
                  <a:srgbClr val="0C2237"/>
                </a:solidFill>
                <a:latin typeface="Cairo"/>
                <a:cs typeface="Cairo"/>
              </a:rPr>
              <a:t>SLIDE 10 // ADMIN &amp; ID STUDIO</a:t>
            </a:r>
          </a:p>
        </p:txBody>
      </p:sp>
      <p:sp>
        <p:nvSpPr>
          <p:cNvPr id="6" name="Shape 6"/>
          <p:cNvSpPr/>
          <p:nvPr/>
        </p:nvSpPr>
        <p:spPr>
          <a:xfrm>
            <a:off x="650000" y="1150000"/>
            <a:ext cx="10892000" cy="1250000"/>
          </a:xfrm>
          <a:prstGeom prst="rect">
            <a:avLst/>
          </a:prstGeom>
          <a:solidFill>
            <a:srgbClr val="FFFDF6"/>
          </a:solidFill>
          <a:ln>
            <a:noFill/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2800" b="1" dirty="0">
                <a:solidFill>
                  <a:srgbClr val="10283F"/>
                </a:solidFill>
                <a:latin typeface="Cairo"/>
                <a:cs typeface="Cairo"/>
              </a:rPr>
              <a:t>لوحة لجنة الإشراف واستوديو توليد البطاقات (/admin)</a:t>
            </a:r>
          </a:p>
          <a:p>
            <a:pPr algn="r" rtl="1"/>
            <a:r>
              <a:rPr lang="ar-EG" sz="1500" b="0" dirty="0">
                <a:solidFill>
                  <a:srgbClr val="FF4453"/>
                </a:solidFill>
                <a:latin typeface="Cairo"/>
                <a:cs typeface="Cairo"/>
              </a:rPr>
              <a:t>مركز قيادة متكامل لإدارة العملية الانتخابية وتوليد بطاقات التجربة الحية</a:t>
            </a:r>
          </a:p>
        </p:txBody>
      </p:sp>
      <p:sp>
        <p:nvSpPr>
          <p:cNvPr id="7" name="Shape 7"/>
          <p:cNvSpPr/>
          <p:nvPr/>
        </p:nvSpPr>
        <p:spPr>
          <a:xfrm>
            <a:off x="8123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058000" y="2520000"/>
            <a:ext cx="3484000" cy="3150000"/>
          </a:xfrm>
          <a:prstGeom prst="rect">
            <a:avLst/>
          </a:prstGeom>
          <a:solidFill>
            <a:srgbClr val="EEF8F6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إدارة الانتخابات والمرشحين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إنشاء استحقاقات جديدة، فتح أو غلق الصندوق لحظياً، وإضافة المرشحين مع صورهم ورموزهم وبرامجهم.</a:t>
            </a:r>
          </a:p>
        </p:txBody>
      </p:sp>
      <p:sp>
        <p:nvSpPr>
          <p:cNvPr id="9" name="Shape 9"/>
          <p:cNvSpPr/>
          <p:nvPr/>
        </p:nvSpPr>
        <p:spPr>
          <a:xfrm>
            <a:off x="4419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4354000" y="2520000"/>
            <a:ext cx="3484000" cy="3150000"/>
          </a:xfrm>
          <a:prstGeom prst="rect">
            <a:avLst/>
          </a:prstGeom>
          <a:solidFill>
            <a:srgbClr val="FFF8CC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استوديو البطاقات القومية (ID Studio)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ارفع أي صورة شخصية وأدخل الاسم وتاريخ الميلاد والمحافظة ليرسم النظام بطاقة مصرية كاملة ويحفظ بصمة الوجه للتجربة بالكاميرا.</a:t>
            </a:r>
          </a:p>
        </p:txBody>
      </p:sp>
      <p:sp>
        <p:nvSpPr>
          <p:cNvPr id="11" name="Shape 11"/>
          <p:cNvSpPr/>
          <p:nvPr/>
        </p:nvSpPr>
        <p:spPr>
          <a:xfrm>
            <a:off x="715000" y="2585000"/>
            <a:ext cx="3484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650000" y="2520000"/>
            <a:ext cx="3484000" cy="31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المراجعة والكشوف وسجل التدقيق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البتّ في طلبات المراجعة اليدوية، استيراد كشوف الناخبين بصيغة CSV، ومتابعة سجل التدقيق الأمني (audit_log).</a:t>
            </a:r>
          </a:p>
        </p:txBody>
      </p:sp>
      <p:sp>
        <p:nvSpPr>
          <p:cNvPr id="13" name="Shape 13"/>
          <p:cNvSpPr/>
          <p:nvPr/>
        </p:nvSpPr>
        <p:spPr>
          <a:xfrm>
            <a:off x="650000" y="5850000"/>
            <a:ext cx="10892000" cy="420000"/>
          </a:xfrm>
          <a:prstGeom prst="rect">
            <a:avLst/>
          </a:prstGeom>
          <a:solidFill>
            <a:srgbClr val="F2F0E8"/>
          </a:solidFill>
          <a:ln w="127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100" b="1" dirty="0">
                <a:solidFill>
                  <a:srgbClr val="68727B"/>
                </a:solidFill>
                <a:latin typeface="Cairo"/>
                <a:cs typeface="Cairo"/>
              </a:rPr>
              <a:t>مشروع صوت موثّق — منصة التصويت الإلكتروني بالتحقق البيومتري   |   الشريحة 10 من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20000" y="380000"/>
            <a:ext cx="11352000" cy="6100000"/>
          </a:xfrm>
          <a:prstGeom prst="rect">
            <a:avLst/>
          </a:prstGeom>
          <a:solidFill>
            <a:srgbClr val="FFFDF6"/>
          </a:solidFill>
          <a:ln w="38100">
            <a:solidFill>
              <a:srgbClr val="0C2237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00000" y="520000"/>
            <a:ext cx="10992000" cy="520000"/>
          </a:xfrm>
          <a:prstGeom prst="rect">
            <a:avLst/>
          </a:prstGeom>
          <a:solidFill>
            <a:srgbClr val="0C2237"/>
          </a:solidFill>
          <a:ln w="1905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300" b="1" dirty="0">
                <a:solidFill>
                  <a:srgbClr val="58D5CC"/>
                </a:solidFill>
                <a:latin typeface="Cairo"/>
                <a:cs typeface="Cairo"/>
              </a:rPr>
              <a:t>صوت موثّق // BIOMETRIC BALLOT LAB   |   SLIDE 11 // CODE STRUCTURE &amp; API</a:t>
            </a:r>
          </a:p>
        </p:txBody>
      </p:sp>
      <p:sp>
        <p:nvSpPr>
          <p:cNvPr id="5" name="Shape 5"/>
          <p:cNvSpPr/>
          <p:nvPr/>
        </p:nvSpPr>
        <p:spPr>
          <a:xfrm>
            <a:off x="720000" y="210000"/>
            <a:ext cx="2400000" cy="310000"/>
          </a:xfrm>
          <a:prstGeom prst="rect">
            <a:avLst/>
          </a:prstGeom>
          <a:solidFill>
            <a:srgbClr val="E6BD5D"/>
          </a:solidFill>
          <a:ln w="25400">
            <a:solidFill>
              <a:srgbClr val="0C2237"/>
            </a:solidFill>
          </a:ln>
        </p:spPr>
        <p:txBody>
          <a:bodyPr wrap="square" lIns="160000" tIns="120000" rIns="160000" bIns="120000" anchor="t" rtlCol="1"/>
          <a:lstStyle/>
          <a:p>
            <a:pPr algn="ctr" rtl="1"/>
            <a:r>
              <a:rPr lang="ar-EG" sz="1100" b="1" dirty="0">
                <a:solidFill>
                  <a:srgbClr val="0C2237"/>
                </a:solidFill>
                <a:latin typeface="Cairo"/>
                <a:cs typeface="Cairo"/>
              </a:rPr>
              <a:t>SLIDE 11 // CODE STRUCTURE &amp; API</a:t>
            </a:r>
          </a:p>
        </p:txBody>
      </p:sp>
      <p:sp>
        <p:nvSpPr>
          <p:cNvPr id="6" name="Shape 6"/>
          <p:cNvSpPr/>
          <p:nvPr/>
        </p:nvSpPr>
        <p:spPr>
          <a:xfrm>
            <a:off x="650000" y="1150000"/>
            <a:ext cx="10892000" cy="1250000"/>
          </a:xfrm>
          <a:prstGeom prst="rect">
            <a:avLst/>
          </a:prstGeom>
          <a:solidFill>
            <a:srgbClr val="FFFDF6"/>
          </a:solidFill>
          <a:ln>
            <a:noFill/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2800" b="1" dirty="0">
                <a:solidFill>
                  <a:srgbClr val="10283F"/>
                </a:solidFill>
                <a:latin typeface="Cairo"/>
                <a:cs typeface="Cairo"/>
              </a:rPr>
              <a:t>الهيكل البرمجي للمشروع ومسارات الـ API</a:t>
            </a:r>
          </a:p>
          <a:p>
            <a:pPr algn="r" rtl="1"/>
            <a:r>
              <a:rPr lang="ar-EG" sz="1500" b="0" dirty="0">
                <a:solidFill>
                  <a:srgbClr val="FF4453"/>
                </a:solidFill>
                <a:latin typeface="Cairo"/>
                <a:cs typeface="Cairo"/>
              </a:rPr>
              <a:t>تصميم معياري نظيف بدون مكتبات خادم خارجية (Zero Server Dependencies)</a:t>
            </a:r>
          </a:p>
        </p:txBody>
      </p:sp>
      <p:sp>
        <p:nvSpPr>
          <p:cNvPr id="7" name="Shape 7"/>
          <p:cNvSpPr/>
          <p:nvPr/>
        </p:nvSpPr>
        <p:spPr>
          <a:xfrm>
            <a:off x="6271000" y="2585000"/>
            <a:ext cx="5336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6206000" y="2520000"/>
            <a:ext cx="5336000" cy="3150000"/>
          </a:xfrm>
          <a:prstGeom prst="rect">
            <a:avLst/>
          </a:prstGeom>
          <a:solidFill>
            <a:srgbClr val="EEF8F6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أهم ملفات المشروع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server.js: خادم HTTP وتوجيه المسارات والترويسات الأمنية.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lib/api.js &amp; lib/verification.js: منطق الأعمال ومطابقة الوجه.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lib/security.js &amp; lib/session.js: التشفير والجلسات الموقّعة.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views/*.js &amp; public/app.js: واجهات Kashif AI والكاميرا.</a:t>
            </a:r>
          </a:p>
        </p:txBody>
      </p:sp>
      <p:sp>
        <p:nvSpPr>
          <p:cNvPr id="9" name="Shape 9"/>
          <p:cNvSpPr/>
          <p:nvPr/>
        </p:nvSpPr>
        <p:spPr>
          <a:xfrm>
            <a:off x="715000" y="2585000"/>
            <a:ext cx="5336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650000" y="2520000"/>
            <a:ext cx="5336000" cy="3150000"/>
          </a:xfrm>
          <a:prstGeom prst="rect">
            <a:avLst/>
          </a:prstGeom>
          <a:solidFill>
            <a:srgbClr val="FFF8CC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أهم مسارات الـ API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POST /api/register: تسجيل الناخب وفحص الرقم القومي.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POST /api/verify/start &amp; /complete: الكاميرا ومطابقة البصمة.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POST /api/vote: إيداع الصوت السري وإصدار كود الإيصال.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• POST /api/receipt/check &amp; /api/admin/*: فحص الإيصال والإدارة.</a:t>
            </a:r>
          </a:p>
        </p:txBody>
      </p:sp>
      <p:sp>
        <p:nvSpPr>
          <p:cNvPr id="11" name="Shape 11"/>
          <p:cNvSpPr/>
          <p:nvPr/>
        </p:nvSpPr>
        <p:spPr>
          <a:xfrm>
            <a:off x="650000" y="5850000"/>
            <a:ext cx="10892000" cy="420000"/>
          </a:xfrm>
          <a:prstGeom prst="rect">
            <a:avLst/>
          </a:prstGeom>
          <a:solidFill>
            <a:srgbClr val="F2F0E8"/>
          </a:solidFill>
          <a:ln w="127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100" b="1" dirty="0">
                <a:solidFill>
                  <a:srgbClr val="68727B"/>
                </a:solidFill>
                <a:latin typeface="Cairo"/>
                <a:cs typeface="Cairo"/>
              </a:rPr>
              <a:t>مشروع صوت موثّق — منصة التصويت الإلكتروني بالتحقق البيومتري   |   الشريحة 11 من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420000" y="380000"/>
            <a:ext cx="11352000" cy="6100000"/>
          </a:xfrm>
          <a:prstGeom prst="rect">
            <a:avLst/>
          </a:prstGeom>
          <a:solidFill>
            <a:srgbClr val="FFFDF6"/>
          </a:solidFill>
          <a:ln w="38100">
            <a:solidFill>
              <a:srgbClr val="0C2237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00000" y="520000"/>
            <a:ext cx="10992000" cy="520000"/>
          </a:xfrm>
          <a:prstGeom prst="rect">
            <a:avLst/>
          </a:prstGeom>
          <a:solidFill>
            <a:srgbClr val="0C2237"/>
          </a:solidFill>
          <a:ln w="1905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300" b="1" dirty="0">
                <a:solidFill>
                  <a:srgbClr val="58D5CC"/>
                </a:solidFill>
                <a:latin typeface="Cairo"/>
                <a:cs typeface="Cairo"/>
              </a:rPr>
              <a:t>صوت موثّق // BIOMETRIC BALLOT LAB   |   SLIDE 12 // AUTOMATED TESTS</a:t>
            </a:r>
          </a:p>
        </p:txBody>
      </p:sp>
      <p:sp>
        <p:nvSpPr>
          <p:cNvPr id="5" name="Shape 5"/>
          <p:cNvSpPr/>
          <p:nvPr/>
        </p:nvSpPr>
        <p:spPr>
          <a:xfrm>
            <a:off x="720000" y="210000"/>
            <a:ext cx="2400000" cy="310000"/>
          </a:xfrm>
          <a:prstGeom prst="rect">
            <a:avLst/>
          </a:prstGeom>
          <a:solidFill>
            <a:srgbClr val="E6BD5D"/>
          </a:solidFill>
          <a:ln w="25400">
            <a:solidFill>
              <a:srgbClr val="0C2237"/>
            </a:solidFill>
          </a:ln>
        </p:spPr>
        <p:txBody>
          <a:bodyPr wrap="square" lIns="160000" tIns="120000" rIns="160000" bIns="120000" anchor="t" rtlCol="1"/>
          <a:lstStyle/>
          <a:p>
            <a:pPr algn="ctr" rtl="1"/>
            <a:r>
              <a:rPr lang="ar-EG" sz="1100" b="1" dirty="0">
                <a:solidFill>
                  <a:srgbClr val="0C2237"/>
                </a:solidFill>
                <a:latin typeface="Cairo"/>
                <a:cs typeface="Cairo"/>
              </a:rPr>
              <a:t>SLIDE 12 // AUTOMATED TESTS</a:t>
            </a:r>
          </a:p>
        </p:txBody>
      </p:sp>
      <p:sp>
        <p:nvSpPr>
          <p:cNvPr id="6" name="Shape 6"/>
          <p:cNvSpPr/>
          <p:nvPr/>
        </p:nvSpPr>
        <p:spPr>
          <a:xfrm>
            <a:off x="650000" y="1150000"/>
            <a:ext cx="10892000" cy="1250000"/>
          </a:xfrm>
          <a:prstGeom prst="rect">
            <a:avLst/>
          </a:prstGeom>
          <a:solidFill>
            <a:srgbClr val="FFFDF6"/>
          </a:solidFill>
          <a:ln>
            <a:noFill/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2800" b="1" dirty="0">
                <a:solidFill>
                  <a:srgbClr val="10283F"/>
                </a:solidFill>
                <a:latin typeface="Cairo"/>
                <a:cs typeface="Cairo"/>
              </a:rPr>
              <a:t>الاختبارات الآلية الشاملة وخلاصة المشروع</a:t>
            </a:r>
          </a:p>
          <a:p>
            <a:pPr algn="r" rtl="1"/>
            <a:r>
              <a:rPr lang="ar-EG" sz="1500" b="0" dirty="0">
                <a:solidFill>
                  <a:srgbClr val="FF4453"/>
                </a:solidFill>
                <a:latin typeface="Cairo"/>
                <a:cs typeface="Cairo"/>
              </a:rPr>
              <a:t>52 اختباراً آلياً ناجحاً بنسبة 100% تتحقق من الأمان والخصوصية والمطابقة</a:t>
            </a:r>
          </a:p>
        </p:txBody>
      </p:sp>
      <p:sp>
        <p:nvSpPr>
          <p:cNvPr id="7" name="Shape 7"/>
          <p:cNvSpPr/>
          <p:nvPr/>
        </p:nvSpPr>
        <p:spPr>
          <a:xfrm>
            <a:off x="6271000" y="2585000"/>
            <a:ext cx="5336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6206000" y="2520000"/>
            <a:ext cx="5336000" cy="3150000"/>
          </a:xfrm>
          <a:prstGeom prst="rect">
            <a:avLst/>
          </a:prstGeom>
          <a:solidFill>
            <a:srgbClr val="EEF8F6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اختبار الرحلة الشاملة (25/25 ناجح)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الأمر: node tools/smoke-test.js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يختبر التسجيل، رفض الأرقام القومية الخاطئة، تحدي الحياة، مطابقة الوجه، التصويت السري، منع التكرار، وفحص الإيصال.</a:t>
            </a:r>
          </a:p>
        </p:txBody>
      </p:sp>
      <p:sp>
        <p:nvSpPr>
          <p:cNvPr id="9" name="Shape 9"/>
          <p:cNvSpPr/>
          <p:nvPr/>
        </p:nvSpPr>
        <p:spPr>
          <a:xfrm>
            <a:off x="715000" y="2585000"/>
            <a:ext cx="5336000" cy="3150000"/>
          </a:xfrm>
          <a:prstGeom prst="rect">
            <a:avLst/>
          </a:prstGeom>
          <a:solidFill>
            <a:srgbClr val="0C22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650000" y="2520000"/>
            <a:ext cx="5336000" cy="3150000"/>
          </a:xfrm>
          <a:prstGeom prst="rect">
            <a:avLst/>
          </a:prstGeom>
          <a:solidFill>
            <a:srgbClr val="FFF8CC"/>
          </a:solidFill>
          <a:ln w="254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700" b="1" dirty="0">
                <a:solidFill>
                  <a:srgbClr val="0C2237"/>
                </a:solidFill>
                <a:latin typeface="Cairo"/>
                <a:cs typeface="Cairo"/>
              </a:rPr>
              <a:t>اختبار المرحلة الثانية (27/27 ناجح)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الأمر: node tools/phase2-check.js</a:t>
            </a:r>
          </a:p>
          <a:p>
            <a:pPr algn="r" rtl="1"/>
            <a:r>
              <a:rPr lang="ar-EG" sz="1300" b="0" dirty="0">
                <a:solidFill>
                  <a:srgbClr val="10283F"/>
                </a:solidFill>
                <a:latin typeface="Cairo"/>
                <a:cs typeface="Cairo"/>
              </a:rPr>
              <a:t>يختبر مطابقة الأسماء العربية المركبة، قراءة البطاقة، كود الموبايل OTP، استيراد كشوف الناخبين، والوضع الصارم.</a:t>
            </a:r>
          </a:p>
        </p:txBody>
      </p:sp>
      <p:sp>
        <p:nvSpPr>
          <p:cNvPr id="11" name="Shape 11"/>
          <p:cNvSpPr/>
          <p:nvPr/>
        </p:nvSpPr>
        <p:spPr>
          <a:xfrm>
            <a:off x="650000" y="5850000"/>
            <a:ext cx="10892000" cy="420000"/>
          </a:xfrm>
          <a:prstGeom prst="rect">
            <a:avLst/>
          </a:prstGeom>
          <a:solidFill>
            <a:srgbClr val="F2F0E8"/>
          </a:solidFill>
          <a:ln w="12700">
            <a:solidFill>
              <a:srgbClr val="10283F"/>
            </a:solidFill>
          </a:ln>
        </p:spPr>
        <p:txBody>
          <a:bodyPr wrap="square" lIns="160000" tIns="120000" rIns="160000" bIns="120000" anchor="t" rtlCol="1"/>
          <a:lstStyle/>
          <a:p>
            <a:pPr algn="r" rtl="1"/>
            <a:r>
              <a:rPr lang="ar-EG" sz="1100" b="1" dirty="0">
                <a:solidFill>
                  <a:srgbClr val="68727B"/>
                </a:solidFill>
                <a:latin typeface="Cairo"/>
                <a:cs typeface="Cairo"/>
              </a:rPr>
              <a:t>مشروع صوت موثّق — منصة التصويت الإلكتروني بالتحقق البيومتري   |   الشريحة 12 من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otKashifTheme">
  <a:themeElements>
    <a:clrScheme name="SootKashif">
      <a:dk1>
        <a:srgbClr val="10283F"/>
      </a:dk1>
      <a:lt1>
        <a:srgbClr val="F7F4EA"/>
      </a:lt1>
      <a:dk2>
        <a:srgbClr val="0C2237"/>
      </a:dk2>
      <a:lt2>
        <a:srgbClr val="FFFDF6"/>
      </a:lt2>
      <a:accent1>
        <a:srgbClr val="FF4453"/>
      </a:accent1>
      <a:accent2>
        <a:srgbClr val="58D5CC"/>
      </a:accent2>
      <a:accent3>
        <a:srgbClr val="E6BD5D"/>
      </a:accent3>
      <a:accent4>
        <a:srgbClr val="43BF86"/>
      </a:accent4>
      <a:accent5>
        <a:srgbClr val="10283F"/>
      </a:accent5>
      <a:accent6>
        <a:srgbClr val="68727B"/>
      </a:accent6>
      <a:hlink>
        <a:srgbClr val="FF4453"/>
      </a:hlink>
      <a:folHlink>
        <a:srgbClr val="0C2237"/>
      </a:folHlink>
    </a:clrScheme>
    <a:fontScheme name="CairoScheme">
      <a:majorFont>
        <a:latin typeface="Cairo"/>
        <a:ea typeface="Cairo"/>
        <a:cs typeface="Cairo"/>
      </a:majorFont>
      <a:minorFont>
        <a:latin typeface="Cairo"/>
        <a:ea typeface="Cairo"/>
        <a:cs typeface="Cairo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9050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